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Wins</c:v>
                </c:pt>
              </c:strCache>
            </c:strRef>
          </c:tx>
          <c:spPr>
            <a:solidFill>
              <a:srgbClr val="C8102E"/>
            </a:solidFill>
            <a:effectLst/>
          </c:spPr>
          <c:invertIfNegative val="0"/>
          <c:dLbls>
            <c:numFmt formatCode="#,##0" sourceLinked="0"/>
            <c:txPr>
              <a:bodyPr/>
              <a:lstStyle/>
              <a:p>
                <a:pPr>
                  <a:defRPr b="1" i="0" strike="noStrike" sz="1100" u="none">
                    <a:solidFill>
                      <a:srgbClr val="111111"/>
                    </a:solidFill>
                    <a:latin typeface="Arial"/>
                  </a:defRPr>
                </a:pPr>
              </a:p>
            </c:txPr>
            <c:showLegendKey val="0"/>
            <c:showVal val="1"/>
            <c:showCatName val="0"/>
            <c:showSerName val="0"/>
            <c:showPercent val="0"/>
            <c:showBubbleSize val="0"/>
            <c:showLeaderLines val="0"/>
          </c:dLbls>
          <c:cat>
            <c:multiLvlStrRef>
              <c:f>Sheet1!$A$2:$A$8</c:f>
              <c:multiLvlStrCache>
                <c:ptCount val="7"/>
                <c:lvl>
                  <c:pt idx="0">
                    <c:v>Hamilton</c:v>
                  </c:pt>
                  <c:pt idx="1">
                    <c:v>Schumacher</c:v>
                  </c:pt>
                  <c:pt idx="2">
                    <c:v>Verstappen</c:v>
                  </c:pt>
                  <c:pt idx="3">
                    <c:v>Vettel</c:v>
                  </c:pt>
                  <c:pt idx="4">
                    <c:v>Prost</c:v>
                  </c:pt>
                  <c:pt idx="5">
                    <c:v>Senna</c:v>
                  </c:pt>
                  <c:pt idx="6">
                    <c:v>Alonso</c:v>
                  </c:pt>
                </c:lvl>
              </c:multiLvlStrCache>
            </c:multiLvlStrRef>
          </c:cat>
          <c:val>
            <c:numRef>
              <c:f>Sheet1!$B$2:$B$8</c:f>
              <c:numCache>
                <c:formatCode>General</c:formatCode>
                <c:ptCount val="7"/>
                <c:pt idx="0">
                  <c:v>105</c:v>
                </c:pt>
                <c:pt idx="1">
                  <c:v>91</c:v>
                </c:pt>
                <c:pt idx="2">
                  <c:v>63</c:v>
                </c:pt>
                <c:pt idx="3">
                  <c:v>53</c:v>
                </c:pt>
                <c:pt idx="4">
                  <c:v>51</c:v>
                </c:pt>
                <c:pt idx="5">
                  <c:v>41</c:v>
                </c:pt>
                <c:pt idx="6">
                  <c:v>32</c:v>
                </c:pt>
              </c:numCache>
            </c:numRef>
          </c:val>
        </c:ser>
        <c:dLbls>
          <c:numFmt formatCode="#,##0" sourceLinked="0"/>
          <c:txPr>
            <a:bodyPr/>
            <a:lstStyle/>
            <a:p>
              <a:pPr>
                <a:defRPr b="1" i="0" strike="noStrike" sz="1100" u="none">
                  <a:solidFill>
                    <a:srgbClr val="111111"/>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11111"/>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4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B7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Pole Conversion</c:v>
                </c:pt>
              </c:strCache>
            </c:strRef>
          </c:tx>
          <c:spPr>
            <a:solidFill>
              <a:schemeClr val="accent1"/>
            </a:solidFill>
            <a:ln w="9525" cap="flat">
              <a:solidFill>
                <a:srgbClr val="F9F9F9"/>
              </a:solidFill>
              <a:prstDash val="solid"/>
              <a:round/>
            </a:ln>
            <a:effectLst/>
          </c:spPr>
          <c:dPt>
            <c:idx val="0"/>
            <c:bubble3D val="0"/>
            <c:spPr>
              <a:solidFill>
                <a:srgbClr val="C8102E"/>
              </a:solidFill>
              <a:effectLst/>
            </c:spPr>
          </c:dPt>
          <c:dPt>
            <c:idx val="1"/>
            <c:bubble3D val="0"/>
            <c:spPr>
              <a:solidFill>
                <a:srgbClr val="111111"/>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Won from Pole</c:v>
                </c:pt>
                <c:pt idx="1">
                  <c:v>Did Not Win</c:v>
                </c:pt>
              </c:strCache>
            </c:strRef>
          </c:cat>
          <c:val>
            <c:numRef>
              <c:f>Sheet1!$B$2:$B$3</c:f>
              <c:numCache>
                <c:ptCount val="2"/>
                <c:pt idx="0">
                  <c:v>42.3</c:v>
                </c:pt>
                <c:pt idx="1">
                  <c:v>57.7</c:v>
                </c:pt>
              </c:numCache>
            </c:numRef>
          </c:val>
        </c:ser>
        <c:firstSliceAng val="0"/>
        <c:holeSize val="60"/>
      </c:doughnutChart>
      <c:spPr>
        <a:noFill/>
        <a:ln>
          <a:noFill/>
        </a:ln>
        <a:effectLst/>
      </c:spPr>
    </c:plotArea>
    <c:legend>
      <c:legendPos val="b"/>
      <c:overlay val="0"/>
      <c:txPr>
        <a:bodyPr/>
        <a:lstStyle/>
        <a:p>
          <a:pPr>
            <a:defRPr sz="1100">
              <a:solidFill>
                <a:srgbClr val="111111"/>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Races</c:v>
                </c:pt>
              </c:strCache>
            </c:strRef>
          </c:tx>
          <c:spPr>
            <a:solidFill>
              <a:srgbClr val="11111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Monza</c:v>
                  </c:pt>
                  <c:pt idx="1">
                    <c:v>Monaco</c:v>
                  </c:pt>
                  <c:pt idx="2">
                    <c:v>Silverstone</c:v>
                  </c:pt>
                  <c:pt idx="3">
                    <c:v>Spa</c:v>
                  </c:pt>
                  <c:pt idx="4">
                    <c:v>Gilles Villeneuve</c:v>
                  </c:pt>
                  <c:pt idx="5">
                    <c:v>Interlagos</c:v>
                  </c:pt>
                  <c:pt idx="6">
                    <c:v>Nürburgring</c:v>
                  </c:pt>
                </c:lvl>
              </c:multiLvlStrCache>
            </c:multiLvlStrRef>
          </c:cat>
          <c:val>
            <c:numRef>
              <c:f>Sheet1!$B$2:$B$8</c:f>
              <c:numCache>
                <c:formatCode>General</c:formatCode>
                <c:ptCount val="7"/>
                <c:pt idx="0">
                  <c:v>75</c:v>
                </c:pt>
                <c:pt idx="1">
                  <c:v>70</c:v>
                </c:pt>
                <c:pt idx="2">
                  <c:v>63</c:v>
                </c:pt>
                <c:pt idx="3">
                  <c:v>58</c:v>
                </c:pt>
                <c:pt idx="4">
                  <c:v>45</c:v>
                </c:pt>
                <c:pt idx="5">
                  <c:v>41</c:v>
                </c:pt>
                <c:pt idx="6">
                  <c:v>39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11111"/>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4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6B7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10725912" y="457200"/>
            <a:ext cx="256032" cy="256032"/>
          </a:xfrm>
          <a:prstGeom prst="rect">
            <a:avLst/>
          </a:prstGeom>
          <a:solidFill>
            <a:srgbClr val="FFFFFF"/>
          </a:solidFill>
          <a:ln/>
        </p:spPr>
      </p:sp>
      <p:sp>
        <p:nvSpPr>
          <p:cNvPr id="3" name="Shape 1"/>
          <p:cNvSpPr/>
          <p:nvPr/>
        </p:nvSpPr>
        <p:spPr>
          <a:xfrm>
            <a:off x="11237976" y="457200"/>
            <a:ext cx="256032" cy="256032"/>
          </a:xfrm>
          <a:prstGeom prst="rect">
            <a:avLst/>
          </a:prstGeom>
          <a:solidFill>
            <a:srgbClr val="FFFFFF"/>
          </a:solidFill>
          <a:ln/>
        </p:spPr>
      </p:sp>
      <p:sp>
        <p:nvSpPr>
          <p:cNvPr id="4" name="Shape 2"/>
          <p:cNvSpPr/>
          <p:nvPr/>
        </p:nvSpPr>
        <p:spPr>
          <a:xfrm>
            <a:off x="10981944" y="713232"/>
            <a:ext cx="256032" cy="256032"/>
          </a:xfrm>
          <a:prstGeom prst="rect">
            <a:avLst/>
          </a:prstGeom>
          <a:solidFill>
            <a:srgbClr val="FFFFFF"/>
          </a:solidFill>
          <a:ln/>
        </p:spPr>
      </p:sp>
      <p:sp>
        <p:nvSpPr>
          <p:cNvPr id="5" name="Shape 3"/>
          <p:cNvSpPr/>
          <p:nvPr/>
        </p:nvSpPr>
        <p:spPr>
          <a:xfrm>
            <a:off x="11494008" y="713232"/>
            <a:ext cx="256032" cy="256032"/>
          </a:xfrm>
          <a:prstGeom prst="rect">
            <a:avLst/>
          </a:prstGeom>
          <a:solidFill>
            <a:srgbClr val="FFFFFF"/>
          </a:solidFill>
          <a:ln/>
        </p:spPr>
      </p:sp>
      <p:sp>
        <p:nvSpPr>
          <p:cNvPr id="6" name="Shape 4"/>
          <p:cNvSpPr/>
          <p:nvPr/>
        </p:nvSpPr>
        <p:spPr>
          <a:xfrm>
            <a:off x="10725912" y="969264"/>
            <a:ext cx="256032" cy="256032"/>
          </a:xfrm>
          <a:prstGeom prst="rect">
            <a:avLst/>
          </a:prstGeom>
          <a:solidFill>
            <a:srgbClr val="FFFFFF"/>
          </a:solidFill>
          <a:ln/>
        </p:spPr>
      </p:sp>
      <p:sp>
        <p:nvSpPr>
          <p:cNvPr id="7" name="Shape 5"/>
          <p:cNvSpPr/>
          <p:nvPr/>
        </p:nvSpPr>
        <p:spPr>
          <a:xfrm>
            <a:off x="11237976" y="969264"/>
            <a:ext cx="256032" cy="256032"/>
          </a:xfrm>
          <a:prstGeom prst="rect">
            <a:avLst/>
          </a:prstGeom>
          <a:solidFill>
            <a:srgbClr val="FFFFFF"/>
          </a:solidFill>
          <a:ln/>
        </p:spPr>
      </p:sp>
      <p:sp>
        <p:nvSpPr>
          <p:cNvPr id="8" name="Shape 6"/>
          <p:cNvSpPr/>
          <p:nvPr/>
        </p:nvSpPr>
        <p:spPr>
          <a:xfrm>
            <a:off x="10981944" y="1225296"/>
            <a:ext cx="256032" cy="256032"/>
          </a:xfrm>
          <a:prstGeom prst="rect">
            <a:avLst/>
          </a:prstGeom>
          <a:solidFill>
            <a:srgbClr val="FFFFFF"/>
          </a:solidFill>
          <a:ln/>
        </p:spPr>
      </p:sp>
      <p:sp>
        <p:nvSpPr>
          <p:cNvPr id="9" name="Shape 7"/>
          <p:cNvSpPr/>
          <p:nvPr/>
        </p:nvSpPr>
        <p:spPr>
          <a:xfrm>
            <a:off x="11494008" y="1225296"/>
            <a:ext cx="256032" cy="256032"/>
          </a:xfrm>
          <a:prstGeom prst="rect">
            <a:avLst/>
          </a:prstGeom>
          <a:solidFill>
            <a:srgbClr val="FFFFFF"/>
          </a:solidFill>
          <a:ln/>
        </p:spPr>
      </p:sp>
      <p:sp>
        <p:nvSpPr>
          <p:cNvPr id="10" name="Text 8"/>
          <p:cNvSpPr/>
          <p:nvPr/>
        </p:nvSpPr>
        <p:spPr>
          <a:xfrm>
            <a:off x="731520" y="1737360"/>
            <a:ext cx="8229600" cy="457200"/>
          </a:xfrm>
          <a:prstGeom prst="rect">
            <a:avLst/>
          </a:prstGeom>
          <a:noFill/>
          <a:ln/>
        </p:spPr>
        <p:txBody>
          <a:bodyPr wrap="square" lIns="0" tIns="0" rIns="0" bIns="0" rtlCol="0" anchor="ctr"/>
          <a:lstStyle/>
          <a:p>
            <a:pPr indent="0" marL="0">
              <a:buNone/>
            </a:pPr>
            <a:r>
              <a:rPr lang="en-US" sz="1400" b="1" spc="400" kern="0" dirty="0">
                <a:solidFill>
                  <a:srgbClr val="C8102E"/>
                </a:solidFill>
                <a:latin typeface="Calibri" pitchFamily="34" charset="0"/>
                <a:ea typeface="Calibri" pitchFamily="34" charset="-122"/>
                <a:cs typeface="Calibri" pitchFamily="34" charset="-120"/>
              </a:rPr>
              <a:t>POWER BI PROJECT</a:t>
            </a:r>
            <a:endParaRPr lang="en-US" sz="1400" dirty="0"/>
          </a:p>
        </p:txBody>
      </p:sp>
      <p:sp>
        <p:nvSpPr>
          <p:cNvPr id="11" name="Text 9"/>
          <p:cNvSpPr/>
          <p:nvPr/>
        </p:nvSpPr>
        <p:spPr>
          <a:xfrm>
            <a:off x="685800" y="2148840"/>
            <a:ext cx="100584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FORMULA 1</a:t>
            </a:r>
            <a:endParaRPr lang="en-US" sz="6000" dirty="0"/>
          </a:p>
        </p:txBody>
      </p:sp>
      <p:sp>
        <p:nvSpPr>
          <p:cNvPr id="12" name="Text 10"/>
          <p:cNvSpPr/>
          <p:nvPr/>
        </p:nvSpPr>
        <p:spPr>
          <a:xfrm>
            <a:off x="731520" y="3246120"/>
            <a:ext cx="9144000" cy="640080"/>
          </a:xfrm>
          <a:prstGeom prst="rect">
            <a:avLst/>
          </a:prstGeom>
          <a:noFill/>
          <a:ln/>
        </p:spPr>
        <p:txBody>
          <a:bodyPr wrap="square" lIns="0" tIns="0" rIns="0" bIns="0" rtlCol="0" anchor="ctr"/>
          <a:lstStyle/>
          <a:p>
            <a:pPr indent="0" marL="0">
              <a:buNone/>
            </a:pPr>
            <a:r>
              <a:rPr lang="en-US" sz="2200" i="1" dirty="0">
                <a:solidFill>
                  <a:srgbClr val="E4E4E7"/>
                </a:solidFill>
                <a:latin typeface="Calibri" pitchFamily="34" charset="0"/>
                <a:ea typeface="Calibri" pitchFamily="34" charset="-122"/>
                <a:cs typeface="Calibri" pitchFamily="34" charset="-120"/>
              </a:rPr>
              <a:t>Race Performance Analytics Dashboard</a:t>
            </a:r>
            <a:endParaRPr lang="en-US" sz="2200" dirty="0"/>
          </a:p>
        </p:txBody>
      </p:sp>
      <p:sp>
        <p:nvSpPr>
          <p:cNvPr id="13" name="Shape 11"/>
          <p:cNvSpPr/>
          <p:nvPr/>
        </p:nvSpPr>
        <p:spPr>
          <a:xfrm>
            <a:off x="749808" y="3977640"/>
            <a:ext cx="2011680" cy="0"/>
          </a:xfrm>
          <a:prstGeom prst="line">
            <a:avLst/>
          </a:prstGeom>
          <a:noFill/>
          <a:ln w="38100">
            <a:solidFill>
              <a:srgbClr val="C8102E"/>
            </a:solidFill>
            <a:prstDash val="solid"/>
          </a:ln>
        </p:spPr>
      </p:sp>
      <p:sp>
        <p:nvSpPr>
          <p:cNvPr id="14" name="Text 12"/>
          <p:cNvSpPr/>
          <p:nvPr/>
        </p:nvSpPr>
        <p:spPr>
          <a:xfrm>
            <a:off x="731520" y="4114800"/>
            <a:ext cx="9601200" cy="365760"/>
          </a:xfrm>
          <a:prstGeom prst="rect">
            <a:avLst/>
          </a:prstGeom>
          <a:noFill/>
          <a:ln/>
        </p:spPr>
        <p:txBody>
          <a:bodyPr wrap="square" lIns="0" tIns="0" rIns="0" bIns="0" rtlCol="0" anchor="ctr"/>
          <a:lstStyle/>
          <a:p>
            <a:pPr indent="0" marL="0">
              <a:buNone/>
            </a:pPr>
            <a:r>
              <a:rPr lang="en-US" sz="1300" dirty="0">
                <a:solidFill>
                  <a:srgbClr val="6B6B70"/>
                </a:solidFill>
                <a:latin typeface="Calibri" pitchFamily="34" charset="0"/>
                <a:ea typeface="Calibri" pitchFamily="34" charset="-122"/>
                <a:cs typeface="Calibri" pitchFamily="34" charset="-120"/>
              </a:rPr>
              <a:t>Data Cleaning, EDA &amp; Power BI Dashboard  |  Chandigarh College of Engineering</a:t>
            </a:r>
            <a:endParaRPr lang="en-US" sz="1300" dirty="0"/>
          </a:p>
        </p:txBody>
      </p:sp>
      <p:sp>
        <p:nvSpPr>
          <p:cNvPr id="15" name="Text 13"/>
          <p:cNvSpPr/>
          <p:nvPr/>
        </p:nvSpPr>
        <p:spPr>
          <a:xfrm>
            <a:off x="731520" y="5120640"/>
            <a:ext cx="7315200" cy="320040"/>
          </a:xfrm>
          <a:prstGeom prst="rect">
            <a:avLst/>
          </a:prstGeom>
          <a:noFill/>
          <a:ln/>
        </p:spPr>
        <p:txBody>
          <a:bodyPr wrap="square" lIns="0" tIns="0" rIns="0" bIns="0" rtlCol="0" anchor="ctr"/>
          <a:lstStyle/>
          <a:p>
            <a:pPr indent="0" marL="0">
              <a:buNone/>
            </a:pPr>
            <a:r>
              <a:rPr lang="en-US" sz="1400" b="1" dirty="0">
                <a:solidFill>
                  <a:srgbClr val="D4AF37"/>
                </a:solidFill>
                <a:latin typeface="Calibri" pitchFamily="34" charset="0"/>
                <a:ea typeface="Calibri" pitchFamily="34" charset="-122"/>
                <a:cs typeface="Calibri" pitchFamily="34" charset="-120"/>
              </a:rPr>
              <a:t>Presented by   </a:t>
            </a:r>
            <a:pPr indent="0" marL="0">
              <a:buNone/>
            </a:pPr>
            <a:r>
              <a:rPr lang="en-US" sz="1400" dirty="0">
                <a:solidFill>
                  <a:srgbClr val="FFFFFF"/>
                </a:solidFill>
                <a:latin typeface="Calibri" pitchFamily="34" charset="0"/>
                <a:ea typeface="Calibri" pitchFamily="34" charset="-122"/>
                <a:cs typeface="Calibri" pitchFamily="34" charset="-120"/>
              </a:rPr>
              <a:t>Krish Sharma  |  2405039377</a:t>
            </a:r>
            <a:endParaRPr lang="en-US" sz="1400" dirty="0"/>
          </a:p>
        </p:txBody>
      </p:sp>
      <p:sp>
        <p:nvSpPr>
          <p:cNvPr id="16" name="Text 14"/>
          <p:cNvSpPr/>
          <p:nvPr/>
        </p:nvSpPr>
        <p:spPr>
          <a:xfrm>
            <a:off x="731520" y="5486400"/>
            <a:ext cx="7315200" cy="320040"/>
          </a:xfrm>
          <a:prstGeom prst="rect">
            <a:avLst/>
          </a:prstGeom>
          <a:noFill/>
          <a:ln/>
        </p:spPr>
        <p:txBody>
          <a:bodyPr wrap="square" lIns="0" tIns="0" rIns="0" bIns="0" rtlCol="0" anchor="ctr"/>
          <a:lstStyle/>
          <a:p>
            <a:pPr indent="0" marL="0">
              <a:buNone/>
            </a:pPr>
            <a:r>
              <a:rPr lang="en-US" sz="1400" b="1" dirty="0">
                <a:solidFill>
                  <a:srgbClr val="D4AF37"/>
                </a:solidFill>
                <a:latin typeface="Calibri" pitchFamily="34" charset="0"/>
                <a:ea typeface="Calibri" pitchFamily="34" charset="-122"/>
                <a:cs typeface="Calibri" pitchFamily="34" charset="-120"/>
              </a:rPr>
              <a:t>Course   </a:t>
            </a:r>
            <a:pPr indent="0" marL="0">
              <a:buNone/>
            </a:pPr>
            <a:r>
              <a:rPr lang="en-US" sz="1400" dirty="0">
                <a:solidFill>
                  <a:srgbClr val="FFFFFF"/>
                </a:solidFill>
                <a:latin typeface="Calibri" pitchFamily="34" charset="0"/>
                <a:ea typeface="Calibri" pitchFamily="34" charset="-122"/>
                <a:cs typeface="Calibri" pitchFamily="34" charset="-120"/>
              </a:rPr>
              <a:t>B.Tech — Computer Science &amp; Engineering</a:t>
            </a:r>
            <a:endParaRPr lang="en-US" sz="1400" dirty="0"/>
          </a:p>
        </p:txBody>
      </p:sp>
      <p:sp>
        <p:nvSpPr>
          <p:cNvPr id="17" name="Text 15"/>
          <p:cNvSpPr/>
          <p:nvPr/>
        </p:nvSpPr>
        <p:spPr>
          <a:xfrm>
            <a:off x="731520" y="5852160"/>
            <a:ext cx="7315200" cy="320040"/>
          </a:xfrm>
          <a:prstGeom prst="rect">
            <a:avLst/>
          </a:prstGeom>
          <a:noFill/>
          <a:ln/>
        </p:spPr>
        <p:txBody>
          <a:bodyPr wrap="square" lIns="0" tIns="0" rIns="0" bIns="0" rtlCol="0" anchor="ctr"/>
          <a:lstStyle/>
          <a:p>
            <a:pPr indent="0" marL="0">
              <a:buNone/>
            </a:pPr>
            <a:r>
              <a:rPr lang="en-US" sz="1400" b="1" dirty="0">
                <a:solidFill>
                  <a:srgbClr val="D4AF37"/>
                </a:solidFill>
                <a:latin typeface="Calibri" pitchFamily="34" charset="0"/>
                <a:ea typeface="Calibri" pitchFamily="34" charset="-122"/>
                <a:cs typeface="Calibri" pitchFamily="34" charset="-120"/>
              </a:rPr>
              <a:t>Date   </a:t>
            </a:r>
            <a:pPr indent="0" marL="0">
              <a:buNone/>
            </a:pPr>
            <a:r>
              <a:rPr lang="en-US" sz="1400" dirty="0">
                <a:solidFill>
                  <a:srgbClr val="FFFFFF"/>
                </a:solidFill>
                <a:latin typeface="Calibri" pitchFamily="34" charset="0"/>
                <a:ea typeface="Calibri" pitchFamily="34" charset="-122"/>
                <a:cs typeface="Calibri" pitchFamily="34" charset="-120"/>
              </a:rPr>
              <a:t>30 June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C8102E"/>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00</a:t>
            </a:r>
            <a:endParaRPr lang="en-US" sz="1600" dirty="0"/>
          </a:p>
        </p:txBody>
      </p:sp>
      <p:sp>
        <p:nvSpPr>
          <p:cNvPr id="4" name="Text 2"/>
          <p:cNvSpPr/>
          <p:nvPr/>
        </p:nvSpPr>
        <p:spPr>
          <a:xfrm>
            <a:off x="1097280" y="457200"/>
            <a:ext cx="7315200" cy="457200"/>
          </a:xfrm>
          <a:prstGeom prst="rect">
            <a:avLst/>
          </a:prstGeom>
          <a:noFill/>
          <a:ln/>
        </p:spPr>
        <p:txBody>
          <a:bodyPr wrap="square" lIns="0" tIns="0" rIns="0" bIns="0" rtlCol="0" anchor="ctr"/>
          <a:lstStyle/>
          <a:p>
            <a:pPr indent="0" marL="0">
              <a:buNone/>
            </a:pPr>
            <a:r>
              <a:rPr lang="en-US" sz="1300" b="1" spc="200" kern="0" dirty="0">
                <a:solidFill>
                  <a:srgbClr val="6B6B70"/>
                </a:solidFill>
                <a:latin typeface="Calibri" pitchFamily="34" charset="0"/>
                <a:ea typeface="Calibri" pitchFamily="34" charset="-122"/>
                <a:cs typeface="Calibri" pitchFamily="34" charset="-120"/>
              </a:rPr>
              <a:t>AGENDA</a:t>
            </a:r>
            <a:endParaRPr lang="en-US" sz="1300" dirty="0"/>
          </a:p>
        </p:txBody>
      </p:sp>
      <p:sp>
        <p:nvSpPr>
          <p:cNvPr id="5" name="Text 3"/>
          <p:cNvSpPr/>
          <p:nvPr/>
        </p:nvSpPr>
        <p:spPr>
          <a:xfrm>
            <a:off x="457200" y="960120"/>
            <a:ext cx="10789920" cy="731520"/>
          </a:xfrm>
          <a:prstGeom prst="rect">
            <a:avLst/>
          </a:prstGeom>
          <a:noFill/>
          <a:ln/>
        </p:spPr>
        <p:txBody>
          <a:bodyPr wrap="square" lIns="0" tIns="0" rIns="0" bIns="0" rtlCol="0" anchor="ctr"/>
          <a:lstStyle/>
          <a:p>
            <a:pPr indent="0" marL="0">
              <a:buNone/>
            </a:pPr>
            <a:r>
              <a:rPr lang="en-US" sz="3000" b="1" dirty="0">
                <a:solidFill>
                  <a:srgbClr val="111111"/>
                </a:solidFill>
                <a:latin typeface="Cambria" pitchFamily="34" charset="0"/>
                <a:ea typeface="Cambria" pitchFamily="34" charset="-122"/>
                <a:cs typeface="Cambria" pitchFamily="34" charset="-120"/>
              </a:rPr>
              <a:t>What We'll Cover</a:t>
            </a:r>
            <a:endParaRPr lang="en-US" sz="3000" dirty="0"/>
          </a:p>
        </p:txBody>
      </p:sp>
      <p:sp>
        <p:nvSpPr>
          <p:cNvPr id="6" name="Shape 4"/>
          <p:cNvSpPr/>
          <p:nvPr/>
        </p:nvSpPr>
        <p:spPr>
          <a:xfrm>
            <a:off x="457200" y="1920240"/>
            <a:ext cx="457200" cy="457200"/>
          </a:xfrm>
          <a:prstGeom prst="ellipse">
            <a:avLst/>
          </a:prstGeom>
          <a:solidFill>
            <a:srgbClr val="C8102E"/>
          </a:solidFill>
          <a:ln/>
        </p:spPr>
      </p:sp>
      <p:sp>
        <p:nvSpPr>
          <p:cNvPr id="7" name="Text 5"/>
          <p:cNvSpPr/>
          <p:nvPr/>
        </p:nvSpPr>
        <p:spPr>
          <a:xfrm>
            <a:off x="45720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8" name="Text 6"/>
          <p:cNvSpPr/>
          <p:nvPr/>
        </p:nvSpPr>
        <p:spPr>
          <a:xfrm>
            <a:off x="1051560" y="1874520"/>
            <a:ext cx="4526280" cy="54864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Introduction — Problem Statement &amp; Objectives</a:t>
            </a:r>
            <a:endParaRPr lang="en-US" sz="1400" dirty="0"/>
          </a:p>
        </p:txBody>
      </p:sp>
      <p:sp>
        <p:nvSpPr>
          <p:cNvPr id="9" name="Shape 7"/>
          <p:cNvSpPr/>
          <p:nvPr/>
        </p:nvSpPr>
        <p:spPr>
          <a:xfrm>
            <a:off x="457200" y="2788920"/>
            <a:ext cx="457200" cy="457200"/>
          </a:xfrm>
          <a:prstGeom prst="ellipse">
            <a:avLst/>
          </a:prstGeom>
          <a:solidFill>
            <a:srgbClr val="C8102E"/>
          </a:solidFill>
          <a:ln/>
        </p:spPr>
      </p:sp>
      <p:sp>
        <p:nvSpPr>
          <p:cNvPr id="10" name="Text 8"/>
          <p:cNvSpPr/>
          <p:nvPr/>
        </p:nvSpPr>
        <p:spPr>
          <a:xfrm>
            <a:off x="457200" y="2788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1" name="Text 9"/>
          <p:cNvSpPr/>
          <p:nvPr/>
        </p:nvSpPr>
        <p:spPr>
          <a:xfrm>
            <a:off x="1051560" y="2743200"/>
            <a:ext cx="4526280" cy="54864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Dataset Overview — Source, Files &amp; Key Fields</a:t>
            </a:r>
            <a:endParaRPr lang="en-US" sz="1400" dirty="0"/>
          </a:p>
        </p:txBody>
      </p:sp>
      <p:sp>
        <p:nvSpPr>
          <p:cNvPr id="12" name="Shape 10"/>
          <p:cNvSpPr/>
          <p:nvPr/>
        </p:nvSpPr>
        <p:spPr>
          <a:xfrm>
            <a:off x="457200" y="3657600"/>
            <a:ext cx="457200" cy="457200"/>
          </a:xfrm>
          <a:prstGeom prst="ellipse">
            <a:avLst/>
          </a:prstGeom>
          <a:solidFill>
            <a:srgbClr val="C8102E"/>
          </a:solidFill>
          <a:ln/>
        </p:spPr>
      </p:sp>
      <p:sp>
        <p:nvSpPr>
          <p:cNvPr id="13" name="Text 11"/>
          <p:cNvSpPr/>
          <p:nvPr/>
        </p:nvSpPr>
        <p:spPr>
          <a:xfrm>
            <a:off x="457200" y="3657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14" name="Text 12"/>
          <p:cNvSpPr/>
          <p:nvPr/>
        </p:nvSpPr>
        <p:spPr>
          <a:xfrm>
            <a:off x="1051560" y="3611880"/>
            <a:ext cx="4526280" cy="54864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Merging the Datasets into One Master Table</a:t>
            </a:r>
            <a:endParaRPr lang="en-US" sz="1400" dirty="0"/>
          </a:p>
        </p:txBody>
      </p:sp>
      <p:sp>
        <p:nvSpPr>
          <p:cNvPr id="15" name="Shape 13"/>
          <p:cNvSpPr/>
          <p:nvPr/>
        </p:nvSpPr>
        <p:spPr>
          <a:xfrm>
            <a:off x="457200" y="4526280"/>
            <a:ext cx="457200" cy="457200"/>
          </a:xfrm>
          <a:prstGeom prst="ellipse">
            <a:avLst/>
          </a:prstGeom>
          <a:solidFill>
            <a:srgbClr val="C8102E"/>
          </a:solidFill>
          <a:ln/>
        </p:spPr>
      </p:sp>
      <p:sp>
        <p:nvSpPr>
          <p:cNvPr id="16" name="Text 14"/>
          <p:cNvSpPr/>
          <p:nvPr/>
        </p:nvSpPr>
        <p:spPr>
          <a:xfrm>
            <a:off x="457200" y="4526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17" name="Text 15"/>
          <p:cNvSpPr/>
          <p:nvPr/>
        </p:nvSpPr>
        <p:spPr>
          <a:xfrm>
            <a:off x="1051560" y="4480560"/>
            <a:ext cx="4526280" cy="54864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Data Cleaning &amp; Feature Engineering</a:t>
            </a:r>
            <a:endParaRPr lang="en-US" sz="1400" dirty="0"/>
          </a:p>
        </p:txBody>
      </p:sp>
      <p:sp>
        <p:nvSpPr>
          <p:cNvPr id="18" name="Shape 16"/>
          <p:cNvSpPr/>
          <p:nvPr/>
        </p:nvSpPr>
        <p:spPr>
          <a:xfrm>
            <a:off x="6126480" y="1920240"/>
            <a:ext cx="457200" cy="457200"/>
          </a:xfrm>
          <a:prstGeom prst="ellipse">
            <a:avLst/>
          </a:prstGeom>
          <a:solidFill>
            <a:srgbClr val="111111"/>
          </a:solidFill>
          <a:ln/>
        </p:spPr>
      </p:sp>
      <p:sp>
        <p:nvSpPr>
          <p:cNvPr id="19" name="Text 17"/>
          <p:cNvSpPr/>
          <p:nvPr/>
        </p:nvSpPr>
        <p:spPr>
          <a:xfrm>
            <a:off x="612648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05</a:t>
            </a:r>
            <a:endParaRPr lang="en-US" sz="1400" dirty="0"/>
          </a:p>
        </p:txBody>
      </p:sp>
      <p:sp>
        <p:nvSpPr>
          <p:cNvPr id="20" name="Text 18"/>
          <p:cNvSpPr/>
          <p:nvPr/>
        </p:nvSpPr>
        <p:spPr>
          <a:xfrm>
            <a:off x="6720840" y="1874520"/>
            <a:ext cx="4526280" cy="54864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Exploratory Data Analysis — Key Patterns</a:t>
            </a:r>
            <a:endParaRPr lang="en-US" sz="1400" dirty="0"/>
          </a:p>
        </p:txBody>
      </p:sp>
      <p:sp>
        <p:nvSpPr>
          <p:cNvPr id="21" name="Shape 19"/>
          <p:cNvSpPr/>
          <p:nvPr/>
        </p:nvSpPr>
        <p:spPr>
          <a:xfrm>
            <a:off x="6126480" y="2788920"/>
            <a:ext cx="457200" cy="457200"/>
          </a:xfrm>
          <a:prstGeom prst="ellipse">
            <a:avLst/>
          </a:prstGeom>
          <a:solidFill>
            <a:srgbClr val="111111"/>
          </a:solidFill>
          <a:ln/>
        </p:spPr>
      </p:sp>
      <p:sp>
        <p:nvSpPr>
          <p:cNvPr id="22" name="Text 20"/>
          <p:cNvSpPr/>
          <p:nvPr/>
        </p:nvSpPr>
        <p:spPr>
          <a:xfrm>
            <a:off x="6126480" y="2788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06</a:t>
            </a:r>
            <a:endParaRPr lang="en-US" sz="1400" dirty="0"/>
          </a:p>
        </p:txBody>
      </p:sp>
      <p:sp>
        <p:nvSpPr>
          <p:cNvPr id="23" name="Text 21"/>
          <p:cNvSpPr/>
          <p:nvPr/>
        </p:nvSpPr>
        <p:spPr>
          <a:xfrm>
            <a:off x="6720840" y="2743200"/>
            <a:ext cx="4526280" cy="54864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Power BI Dashboard Walkthrough</a:t>
            </a:r>
            <a:endParaRPr lang="en-US" sz="1400" dirty="0"/>
          </a:p>
        </p:txBody>
      </p:sp>
      <p:sp>
        <p:nvSpPr>
          <p:cNvPr id="24" name="Shape 22"/>
          <p:cNvSpPr/>
          <p:nvPr/>
        </p:nvSpPr>
        <p:spPr>
          <a:xfrm>
            <a:off x="6126480" y="3657600"/>
            <a:ext cx="457200" cy="457200"/>
          </a:xfrm>
          <a:prstGeom prst="ellipse">
            <a:avLst/>
          </a:prstGeom>
          <a:solidFill>
            <a:srgbClr val="111111"/>
          </a:solidFill>
          <a:ln/>
        </p:spPr>
      </p:sp>
      <p:sp>
        <p:nvSpPr>
          <p:cNvPr id="25" name="Text 23"/>
          <p:cNvSpPr/>
          <p:nvPr/>
        </p:nvSpPr>
        <p:spPr>
          <a:xfrm>
            <a:off x="6126480" y="3657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07</a:t>
            </a:r>
            <a:endParaRPr lang="en-US" sz="1400" dirty="0"/>
          </a:p>
        </p:txBody>
      </p:sp>
      <p:sp>
        <p:nvSpPr>
          <p:cNvPr id="26" name="Text 24"/>
          <p:cNvSpPr/>
          <p:nvPr/>
        </p:nvSpPr>
        <p:spPr>
          <a:xfrm>
            <a:off x="6720840" y="3611880"/>
            <a:ext cx="4526280" cy="54864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Key Findings &amp; Insights</a:t>
            </a:r>
            <a:endParaRPr lang="en-US" sz="1400" dirty="0"/>
          </a:p>
        </p:txBody>
      </p:sp>
      <p:sp>
        <p:nvSpPr>
          <p:cNvPr id="27" name="Shape 25"/>
          <p:cNvSpPr/>
          <p:nvPr/>
        </p:nvSpPr>
        <p:spPr>
          <a:xfrm>
            <a:off x="6126480" y="4526280"/>
            <a:ext cx="457200" cy="457200"/>
          </a:xfrm>
          <a:prstGeom prst="ellipse">
            <a:avLst/>
          </a:prstGeom>
          <a:solidFill>
            <a:srgbClr val="111111"/>
          </a:solidFill>
          <a:ln/>
        </p:spPr>
      </p:sp>
      <p:sp>
        <p:nvSpPr>
          <p:cNvPr id="28" name="Text 26"/>
          <p:cNvSpPr/>
          <p:nvPr/>
        </p:nvSpPr>
        <p:spPr>
          <a:xfrm>
            <a:off x="6126480" y="4526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08</a:t>
            </a:r>
            <a:endParaRPr lang="en-US" sz="1400" dirty="0"/>
          </a:p>
        </p:txBody>
      </p:sp>
      <p:sp>
        <p:nvSpPr>
          <p:cNvPr id="29" name="Text 27"/>
          <p:cNvSpPr/>
          <p:nvPr/>
        </p:nvSpPr>
        <p:spPr>
          <a:xfrm>
            <a:off x="6720840" y="4480560"/>
            <a:ext cx="4526280" cy="548640"/>
          </a:xfrm>
          <a:prstGeom prst="rect">
            <a:avLst/>
          </a:prstGeom>
          <a:noFill/>
          <a:ln/>
        </p:spPr>
        <p:txBody>
          <a:bodyPr wrap="square" lIns="0" tIns="0" rIns="0" bIns="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Conclusion &amp; Future Scope</a:t>
            </a:r>
            <a:endParaRPr lang="en-US" sz="1400" dirty="0"/>
          </a:p>
        </p:txBody>
      </p:sp>
      <p:sp>
        <p:nvSpPr>
          <p:cNvPr id="30" name="Text 28"/>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6B70"/>
                </a:solidFill>
                <a:latin typeface="Calibri" pitchFamily="34" charset="0"/>
                <a:ea typeface="Calibri" pitchFamily="34" charset="-122"/>
                <a:cs typeface="Calibri" pitchFamily="34" charset="-120"/>
              </a:rPr>
              <a:t>F1 Race Performance Analytics  •  Power BI Project</a:t>
            </a:r>
            <a:endParaRPr lang="en-US" sz="900" dirty="0"/>
          </a:p>
        </p:txBody>
      </p:sp>
      <p:sp>
        <p:nvSpPr>
          <p:cNvPr id="31" name="Text 29"/>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C8102E"/>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4" name="Text 2"/>
          <p:cNvSpPr/>
          <p:nvPr/>
        </p:nvSpPr>
        <p:spPr>
          <a:xfrm>
            <a:off x="1097280" y="457200"/>
            <a:ext cx="7315200" cy="457200"/>
          </a:xfrm>
          <a:prstGeom prst="rect">
            <a:avLst/>
          </a:prstGeom>
          <a:noFill/>
          <a:ln/>
        </p:spPr>
        <p:txBody>
          <a:bodyPr wrap="square" lIns="0" tIns="0" rIns="0" bIns="0" rtlCol="0" anchor="ctr"/>
          <a:lstStyle/>
          <a:p>
            <a:pPr indent="0" marL="0">
              <a:buNone/>
            </a:pPr>
            <a:r>
              <a:rPr lang="en-US" sz="1300" b="1" spc="200" kern="0" dirty="0">
                <a:solidFill>
                  <a:srgbClr val="6B6B70"/>
                </a:solidFill>
                <a:latin typeface="Calibri" pitchFamily="34" charset="0"/>
                <a:ea typeface="Calibri" pitchFamily="34" charset="-122"/>
                <a:cs typeface="Calibri" pitchFamily="34" charset="-120"/>
              </a:rPr>
              <a:t>INTRODUCTION</a:t>
            </a:r>
            <a:endParaRPr lang="en-US" sz="1300" dirty="0"/>
          </a:p>
        </p:txBody>
      </p:sp>
      <p:sp>
        <p:nvSpPr>
          <p:cNvPr id="5" name="Text 3"/>
          <p:cNvSpPr/>
          <p:nvPr/>
        </p:nvSpPr>
        <p:spPr>
          <a:xfrm>
            <a:off x="457200" y="960120"/>
            <a:ext cx="10789920" cy="731520"/>
          </a:xfrm>
          <a:prstGeom prst="rect">
            <a:avLst/>
          </a:prstGeom>
          <a:noFill/>
          <a:ln/>
        </p:spPr>
        <p:txBody>
          <a:bodyPr wrap="square" lIns="0" tIns="0" rIns="0" bIns="0" rtlCol="0" anchor="ctr"/>
          <a:lstStyle/>
          <a:p>
            <a:pPr indent="0" marL="0">
              <a:buNone/>
            </a:pPr>
            <a:r>
              <a:rPr lang="en-US" sz="3000" b="1" dirty="0">
                <a:solidFill>
                  <a:srgbClr val="111111"/>
                </a:solidFill>
                <a:latin typeface="Cambria" pitchFamily="34" charset="0"/>
                <a:ea typeface="Cambria" pitchFamily="34" charset="-122"/>
                <a:cs typeface="Cambria" pitchFamily="34" charset="-120"/>
              </a:rPr>
              <a:t>Problem Statement &amp; Objectives</a:t>
            </a:r>
            <a:endParaRPr lang="en-US" sz="3000" dirty="0"/>
          </a:p>
        </p:txBody>
      </p:sp>
      <p:sp>
        <p:nvSpPr>
          <p:cNvPr id="6" name="Shape 4"/>
          <p:cNvSpPr/>
          <p:nvPr/>
        </p:nvSpPr>
        <p:spPr>
          <a:xfrm>
            <a:off x="457200" y="1874520"/>
            <a:ext cx="5486400" cy="4206240"/>
          </a:xfrm>
          <a:prstGeom prst="roundRect">
            <a:avLst>
              <a:gd name="adj" fmla="val 1739"/>
            </a:avLst>
          </a:prstGeom>
          <a:solidFill>
            <a:srgbClr val="F7F7F8"/>
          </a:solidFill>
          <a:ln/>
          <a:effectLst>
            <a:outerShdw sx="100000" sy="100000" kx="0" ky="0" algn="bl" rotWithShape="0" blurRad="101600" dist="38100" dir="5400000">
              <a:srgbClr val="000000">
                <a:alpha val="18000"/>
              </a:srgbClr>
            </a:outerShdw>
          </a:effectLst>
        </p:spPr>
      </p:sp>
      <p:sp>
        <p:nvSpPr>
          <p:cNvPr id="7" name="Text 5"/>
          <p:cNvSpPr/>
          <p:nvPr/>
        </p:nvSpPr>
        <p:spPr>
          <a:xfrm>
            <a:off x="731520" y="2103120"/>
            <a:ext cx="4937760" cy="320040"/>
          </a:xfrm>
          <a:prstGeom prst="rect">
            <a:avLst/>
          </a:prstGeom>
          <a:noFill/>
          <a:ln/>
        </p:spPr>
        <p:txBody>
          <a:bodyPr wrap="square" lIns="0" tIns="0" rIns="0" bIns="0" rtlCol="0" anchor="ctr"/>
          <a:lstStyle/>
          <a:p>
            <a:pPr indent="0" marL="0">
              <a:buNone/>
            </a:pPr>
            <a:r>
              <a:rPr lang="en-US" sz="1300" b="1" spc="150" kern="0" dirty="0">
                <a:solidFill>
                  <a:srgbClr val="C8102E"/>
                </a:solidFill>
                <a:latin typeface="Calibri" pitchFamily="34" charset="0"/>
                <a:ea typeface="Calibri" pitchFamily="34" charset="-122"/>
                <a:cs typeface="Calibri" pitchFamily="34" charset="-120"/>
              </a:rPr>
              <a:t>THE PROBLEM</a:t>
            </a:r>
            <a:endParaRPr lang="en-US" sz="1300" dirty="0"/>
          </a:p>
        </p:txBody>
      </p:sp>
      <p:sp>
        <p:nvSpPr>
          <p:cNvPr id="8" name="Text 6"/>
          <p:cNvSpPr/>
          <p:nvPr/>
        </p:nvSpPr>
        <p:spPr>
          <a:xfrm>
            <a:off x="731520" y="2468880"/>
            <a:ext cx="4937760" cy="1371600"/>
          </a:xfrm>
          <a:prstGeom prst="rect">
            <a:avLst/>
          </a:prstGeom>
          <a:noFill/>
          <a:ln/>
        </p:spPr>
        <p:txBody>
          <a:bodyPr wrap="square" lIns="0" tIns="0" rIns="0" bIns="0" rtlCol="0" anchor="ctr"/>
          <a:lstStyle/>
          <a:p>
            <a:pPr indent="0" marL="0">
              <a:lnSpc>
                <a:spcPct val="115000"/>
              </a:lnSpc>
              <a:buNone/>
            </a:pPr>
            <a:r>
              <a:rPr lang="en-US" sz="1350" dirty="0">
                <a:solidFill>
                  <a:srgbClr val="111111"/>
                </a:solidFill>
                <a:latin typeface="Calibri" pitchFamily="34" charset="0"/>
                <a:ea typeface="Calibri" pitchFamily="34" charset="-122"/>
                <a:cs typeface="Calibri" pitchFamily="34" charset="-120"/>
              </a:rPr>
              <a:t>F1 fans, analysts, and broadcasters lack a single place to explore 75 years of race history. Driver and constructor stats are scattered across raw CSVs, making it hard to compare eras, track reliability trends, or see how grid position affects results.</a:t>
            </a:r>
            <a:endParaRPr lang="en-US" sz="1350" dirty="0"/>
          </a:p>
        </p:txBody>
      </p:sp>
      <p:sp>
        <p:nvSpPr>
          <p:cNvPr id="9" name="Text 7"/>
          <p:cNvSpPr/>
          <p:nvPr/>
        </p:nvSpPr>
        <p:spPr>
          <a:xfrm>
            <a:off x="731520" y="3931920"/>
            <a:ext cx="4937760" cy="320040"/>
          </a:xfrm>
          <a:prstGeom prst="rect">
            <a:avLst/>
          </a:prstGeom>
          <a:noFill/>
          <a:ln/>
        </p:spPr>
        <p:txBody>
          <a:bodyPr wrap="square" lIns="0" tIns="0" rIns="0" bIns="0" rtlCol="0" anchor="ctr"/>
          <a:lstStyle/>
          <a:p>
            <a:pPr indent="0" marL="0">
              <a:buNone/>
            </a:pPr>
            <a:r>
              <a:rPr lang="en-US" sz="1300" b="1" spc="150" kern="0" dirty="0">
                <a:solidFill>
                  <a:srgbClr val="C8102E"/>
                </a:solidFill>
                <a:latin typeface="Calibri" pitchFamily="34" charset="0"/>
                <a:ea typeface="Calibri" pitchFamily="34" charset="-122"/>
                <a:cs typeface="Calibri" pitchFamily="34" charset="-120"/>
              </a:rPr>
              <a:t>TARGET USER</a:t>
            </a:r>
            <a:endParaRPr lang="en-US" sz="1300" dirty="0"/>
          </a:p>
        </p:txBody>
      </p:sp>
      <p:sp>
        <p:nvSpPr>
          <p:cNvPr id="10" name="Text 8"/>
          <p:cNvSpPr/>
          <p:nvPr/>
        </p:nvSpPr>
        <p:spPr>
          <a:xfrm>
            <a:off x="731520" y="4297680"/>
            <a:ext cx="4937760" cy="1554480"/>
          </a:xfrm>
          <a:prstGeom prst="rect">
            <a:avLst/>
          </a:prstGeom>
          <a:noFill/>
          <a:ln/>
        </p:spPr>
        <p:txBody>
          <a:bodyPr wrap="square" lIns="0" tIns="0" rIns="0" bIns="0" rtlCol="0" anchor="ctr"/>
          <a:lstStyle/>
          <a:p>
            <a:pPr indent="0" marL="0">
              <a:lnSpc>
                <a:spcPct val="115000"/>
              </a:lnSpc>
              <a:buNone/>
            </a:pPr>
            <a:r>
              <a:rPr lang="en-US" sz="1350" dirty="0">
                <a:solidFill>
                  <a:srgbClr val="111111"/>
                </a:solidFill>
                <a:latin typeface="Calibri" pitchFamily="34" charset="0"/>
                <a:ea typeface="Calibri" pitchFamily="34" charset="-122"/>
                <a:cs typeface="Calibri" pitchFamily="34" charset="-120"/>
              </a:rPr>
              <a:t>F1 enthusiasts, content creators, and sports analysts who want a fast, visual way to explore historical race data instead of digging through raw spreadsheets.</a:t>
            </a:r>
            <a:endParaRPr lang="en-US" sz="1350" dirty="0"/>
          </a:p>
        </p:txBody>
      </p:sp>
      <p:sp>
        <p:nvSpPr>
          <p:cNvPr id="11" name="Text 9"/>
          <p:cNvSpPr/>
          <p:nvPr/>
        </p:nvSpPr>
        <p:spPr>
          <a:xfrm>
            <a:off x="6263640" y="1874520"/>
            <a:ext cx="5486400" cy="320040"/>
          </a:xfrm>
          <a:prstGeom prst="rect">
            <a:avLst/>
          </a:prstGeom>
          <a:noFill/>
          <a:ln/>
        </p:spPr>
        <p:txBody>
          <a:bodyPr wrap="square" lIns="0" tIns="0" rIns="0" bIns="0" rtlCol="0" anchor="ctr"/>
          <a:lstStyle/>
          <a:p>
            <a:pPr indent="0" marL="0">
              <a:buNone/>
            </a:pPr>
            <a:r>
              <a:rPr lang="en-US" sz="1300" b="1" spc="150" kern="0" dirty="0">
                <a:solidFill>
                  <a:srgbClr val="C8102E"/>
                </a:solidFill>
                <a:latin typeface="Calibri" pitchFamily="34" charset="0"/>
                <a:ea typeface="Calibri" pitchFamily="34" charset="-122"/>
                <a:cs typeface="Calibri" pitchFamily="34" charset="-120"/>
              </a:rPr>
              <a:t>PROJECT OBJECTIVES</a:t>
            </a:r>
            <a:endParaRPr lang="en-US" sz="1300" dirty="0"/>
          </a:p>
        </p:txBody>
      </p:sp>
      <p:sp>
        <p:nvSpPr>
          <p:cNvPr id="12" name="Text 10"/>
          <p:cNvSpPr/>
          <p:nvPr/>
        </p:nvSpPr>
        <p:spPr>
          <a:xfrm>
            <a:off x="6263640" y="2286000"/>
            <a:ext cx="5486400" cy="3657600"/>
          </a:xfrm>
          <a:prstGeom prst="rect">
            <a:avLst/>
          </a:prstGeom>
          <a:noFill/>
          <a:ln/>
        </p:spPr>
        <p:txBody>
          <a:bodyPr wrap="square" lIns="0" tIns="0" rIns="0" bIns="0" rtlCol="0" anchor="t"/>
          <a:lstStyle/>
          <a:p>
            <a:pPr marL="342900" indent="-342900">
              <a:spcAft>
                <a:spcPts val="1600"/>
              </a:spcAft>
              <a:buSzPct val="100000"/>
              <a:buChar char="→"/>
            </a:pPr>
            <a:r>
              <a:rPr lang="en-US" sz="1450" dirty="0">
                <a:solidFill>
                  <a:srgbClr val="111111"/>
                </a:solidFill>
                <a:latin typeface="Calibri" pitchFamily="34" charset="0"/>
                <a:ea typeface="Calibri" pitchFamily="34" charset="-122"/>
                <a:cs typeface="Calibri" pitchFamily="34" charset="-120"/>
              </a:rPr>
              <a:t>Clean and merge six raw F1 datasets into one master table</a:t>
            </a:r>
            <a:endParaRPr lang="en-US" sz="1450" dirty="0"/>
          </a:p>
          <a:p>
            <a:pPr marL="342900" indent="-342900">
              <a:spcAft>
                <a:spcPts val="1600"/>
              </a:spcAft>
              <a:buSzPct val="100000"/>
              <a:buChar char="→"/>
            </a:pPr>
            <a:r>
              <a:rPr lang="en-US" sz="1450" dirty="0">
                <a:solidFill>
                  <a:srgbClr val="111111"/>
                </a:solidFill>
                <a:latin typeface="Calibri" pitchFamily="34" charset="0"/>
                <a:ea typeface="Calibri" pitchFamily="34" charset="-122"/>
                <a:cs typeface="Calibri" pitchFamily="34" charset="-120"/>
              </a:rPr>
              <a:t>Engineer features — winner, podium, pole position, positions gained</a:t>
            </a:r>
            <a:endParaRPr lang="en-US" sz="1450" dirty="0"/>
          </a:p>
          <a:p>
            <a:pPr marL="342900" indent="-342900">
              <a:spcAft>
                <a:spcPts val="1600"/>
              </a:spcAft>
              <a:buSzPct val="100000"/>
              <a:buChar char="→"/>
            </a:pPr>
            <a:r>
              <a:rPr lang="en-US" sz="1450" dirty="0">
                <a:solidFill>
                  <a:srgbClr val="111111"/>
                </a:solidFill>
                <a:latin typeface="Calibri" pitchFamily="34" charset="0"/>
                <a:ea typeface="Calibri" pitchFamily="34" charset="-122"/>
                <a:cs typeface="Calibri" pitchFamily="34" charset="-120"/>
              </a:rPr>
              <a:t>Run exploratory analysis on driver, constructor &amp; race trends</a:t>
            </a:r>
            <a:endParaRPr lang="en-US" sz="1450" dirty="0"/>
          </a:p>
          <a:p>
            <a:pPr marL="342900" indent="-342900">
              <a:spcAft>
                <a:spcPts val="1600"/>
              </a:spcAft>
              <a:buSzPct val="100000"/>
              <a:buChar char="→"/>
            </a:pPr>
            <a:r>
              <a:rPr lang="en-US" sz="1450" dirty="0">
                <a:solidFill>
                  <a:srgbClr val="111111"/>
                </a:solidFill>
                <a:latin typeface="Calibri" pitchFamily="34" charset="0"/>
                <a:ea typeface="Calibri" pitchFamily="34" charset="-122"/>
                <a:cs typeface="Calibri" pitchFamily="34" charset="-120"/>
              </a:rPr>
              <a:t>Design an interactive Power BI dashboard with 8+ visual types</a:t>
            </a:r>
            <a:endParaRPr lang="en-US" sz="1450" dirty="0"/>
          </a:p>
          <a:p>
            <a:pPr marL="342900" indent="-342900">
              <a:spcAft>
                <a:spcPts val="1600"/>
              </a:spcAft>
              <a:buSzPct val="100000"/>
              <a:buChar char="→"/>
            </a:pPr>
            <a:r>
              <a:rPr lang="en-US" sz="1450" dirty="0">
                <a:solidFill>
                  <a:srgbClr val="111111"/>
                </a:solidFill>
                <a:latin typeface="Calibri" pitchFamily="34" charset="0"/>
                <a:ea typeface="Calibri" pitchFamily="34" charset="-122"/>
                <a:cs typeface="Calibri" pitchFamily="34" charset="-120"/>
              </a:rPr>
              <a:t>Surface insights on driver dominance, reliability &amp; strategy</a:t>
            </a:r>
            <a:endParaRPr lang="en-US" sz="1450" dirty="0"/>
          </a:p>
        </p:txBody>
      </p:sp>
      <p:sp>
        <p:nvSpPr>
          <p:cNvPr id="13" name="Text 11"/>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6B70"/>
                </a:solidFill>
                <a:latin typeface="Calibri" pitchFamily="34" charset="0"/>
                <a:ea typeface="Calibri" pitchFamily="34" charset="-122"/>
                <a:cs typeface="Calibri" pitchFamily="34" charset="-120"/>
              </a:rPr>
              <a:t>F1 Race Performance Analytics  •  Power BI Project</a:t>
            </a:r>
            <a:endParaRPr lang="en-US" sz="900" dirty="0"/>
          </a:p>
        </p:txBody>
      </p:sp>
      <p:sp>
        <p:nvSpPr>
          <p:cNvPr id="14" name="Text 1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B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C8102E"/>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4" name="Text 2"/>
          <p:cNvSpPr/>
          <p:nvPr/>
        </p:nvSpPr>
        <p:spPr>
          <a:xfrm>
            <a:off x="1097280" y="457200"/>
            <a:ext cx="7315200" cy="457200"/>
          </a:xfrm>
          <a:prstGeom prst="rect">
            <a:avLst/>
          </a:prstGeom>
          <a:noFill/>
          <a:ln/>
        </p:spPr>
        <p:txBody>
          <a:bodyPr wrap="square" lIns="0" tIns="0" rIns="0" bIns="0" rtlCol="0" anchor="ctr"/>
          <a:lstStyle/>
          <a:p>
            <a:pPr indent="0" marL="0">
              <a:buNone/>
            </a:pPr>
            <a:r>
              <a:rPr lang="en-US" sz="1300" b="1" spc="200" kern="0" dirty="0">
                <a:solidFill>
                  <a:srgbClr val="6B6B70"/>
                </a:solidFill>
                <a:latin typeface="Calibri" pitchFamily="34" charset="0"/>
                <a:ea typeface="Calibri" pitchFamily="34" charset="-122"/>
                <a:cs typeface="Calibri" pitchFamily="34" charset="-120"/>
              </a:rPr>
              <a:t>DATASET OVERVIEW</a:t>
            </a:r>
            <a:endParaRPr lang="en-US" sz="1300" dirty="0"/>
          </a:p>
        </p:txBody>
      </p:sp>
      <p:sp>
        <p:nvSpPr>
          <p:cNvPr id="5" name="Text 3"/>
          <p:cNvSpPr/>
          <p:nvPr/>
        </p:nvSpPr>
        <p:spPr>
          <a:xfrm>
            <a:off x="457200" y="960120"/>
            <a:ext cx="10789920" cy="731520"/>
          </a:xfrm>
          <a:prstGeom prst="rect">
            <a:avLst/>
          </a:prstGeom>
          <a:noFill/>
          <a:ln/>
        </p:spPr>
        <p:txBody>
          <a:bodyPr wrap="square" lIns="0" tIns="0" rIns="0" bIns="0" rtlCol="0" anchor="ctr"/>
          <a:lstStyle/>
          <a:p>
            <a:pPr indent="0" marL="0">
              <a:buNone/>
            </a:pPr>
            <a:r>
              <a:rPr lang="en-US" sz="3000" b="1" dirty="0">
                <a:solidFill>
                  <a:srgbClr val="111111"/>
                </a:solidFill>
                <a:latin typeface="Cambria" pitchFamily="34" charset="0"/>
                <a:ea typeface="Cambria" pitchFamily="34" charset="-122"/>
                <a:cs typeface="Cambria" pitchFamily="34" charset="-120"/>
              </a:rPr>
              <a:t>Source, Structure &amp; Key Fields</a:t>
            </a:r>
            <a:endParaRPr lang="en-US" sz="3000" dirty="0"/>
          </a:p>
        </p:txBody>
      </p:sp>
      <p:sp>
        <p:nvSpPr>
          <p:cNvPr id="6" name="Shape 4"/>
          <p:cNvSpPr/>
          <p:nvPr/>
        </p:nvSpPr>
        <p:spPr>
          <a:xfrm>
            <a:off x="457200" y="1874520"/>
            <a:ext cx="2514600" cy="1280160"/>
          </a:xfrm>
          <a:prstGeom prst="roundRect">
            <a:avLst>
              <a:gd name="adj" fmla="val 5714"/>
            </a:avLst>
          </a:prstGeom>
          <a:solidFill>
            <a:srgbClr val="111111"/>
          </a:solidFill>
          <a:ln/>
          <a:effectLst>
            <a:outerShdw sx="100000" sy="100000" kx="0" ky="0" algn="bl" rotWithShape="0" blurRad="101600" dist="38100" dir="5400000">
              <a:srgbClr val="000000">
                <a:alpha val="18000"/>
              </a:srgbClr>
            </a:outerShdw>
          </a:effectLst>
        </p:spPr>
      </p:sp>
      <p:sp>
        <p:nvSpPr>
          <p:cNvPr id="7" name="Text 5"/>
          <p:cNvSpPr/>
          <p:nvPr/>
        </p:nvSpPr>
        <p:spPr>
          <a:xfrm>
            <a:off x="457200" y="1984248"/>
            <a:ext cx="25146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Kaggle</a:t>
            </a:r>
            <a:endParaRPr lang="en-US" sz="2600" dirty="0"/>
          </a:p>
        </p:txBody>
      </p:sp>
      <p:sp>
        <p:nvSpPr>
          <p:cNvPr id="8" name="Text 6"/>
          <p:cNvSpPr/>
          <p:nvPr/>
        </p:nvSpPr>
        <p:spPr>
          <a:xfrm>
            <a:off x="457200" y="2715768"/>
            <a:ext cx="2514600" cy="320040"/>
          </a:xfrm>
          <a:prstGeom prst="rect">
            <a:avLst/>
          </a:prstGeom>
          <a:noFill/>
          <a:ln/>
        </p:spPr>
        <p:txBody>
          <a:bodyPr wrap="square" lIns="0" tIns="0" rIns="0" bIns="0" rtlCol="0" anchor="ctr"/>
          <a:lstStyle/>
          <a:p>
            <a:pPr algn="ctr" indent="0" marL="0">
              <a:buNone/>
            </a:pPr>
            <a:r>
              <a:rPr lang="en-US" sz="1100" spc="100" kern="0" dirty="0">
                <a:solidFill>
                  <a:srgbClr val="FFFFFF"/>
                </a:solidFill>
                <a:latin typeface="Calibri" pitchFamily="34" charset="0"/>
                <a:ea typeface="Calibri" pitchFamily="34" charset="-122"/>
                <a:cs typeface="Calibri" pitchFamily="34" charset="-120"/>
              </a:rPr>
              <a:t>SOURCE</a:t>
            </a:r>
            <a:endParaRPr lang="en-US" sz="1100" dirty="0"/>
          </a:p>
        </p:txBody>
      </p:sp>
      <p:sp>
        <p:nvSpPr>
          <p:cNvPr id="9" name="Shape 7"/>
          <p:cNvSpPr/>
          <p:nvPr/>
        </p:nvSpPr>
        <p:spPr>
          <a:xfrm>
            <a:off x="3200400" y="1874520"/>
            <a:ext cx="2514600" cy="1280160"/>
          </a:xfrm>
          <a:prstGeom prst="roundRect">
            <a:avLst>
              <a:gd name="adj" fmla="val 5714"/>
            </a:avLst>
          </a:prstGeom>
          <a:solidFill>
            <a:srgbClr val="C8102E"/>
          </a:solidFill>
          <a:ln/>
          <a:effectLst>
            <a:outerShdw sx="100000" sy="100000" kx="0" ky="0" algn="bl" rotWithShape="0" blurRad="101600" dist="38100" dir="5400000">
              <a:srgbClr val="000000">
                <a:alpha val="18000"/>
              </a:srgbClr>
            </a:outerShdw>
          </a:effectLst>
        </p:spPr>
      </p:sp>
      <p:sp>
        <p:nvSpPr>
          <p:cNvPr id="10" name="Text 8"/>
          <p:cNvSpPr/>
          <p:nvPr/>
        </p:nvSpPr>
        <p:spPr>
          <a:xfrm>
            <a:off x="3200400" y="1984248"/>
            <a:ext cx="25146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6</a:t>
            </a:r>
            <a:endParaRPr lang="en-US" sz="2600" dirty="0"/>
          </a:p>
        </p:txBody>
      </p:sp>
      <p:sp>
        <p:nvSpPr>
          <p:cNvPr id="11" name="Text 9"/>
          <p:cNvSpPr/>
          <p:nvPr/>
        </p:nvSpPr>
        <p:spPr>
          <a:xfrm>
            <a:off x="3200400" y="2715768"/>
            <a:ext cx="2514600" cy="320040"/>
          </a:xfrm>
          <a:prstGeom prst="rect">
            <a:avLst/>
          </a:prstGeom>
          <a:noFill/>
          <a:ln/>
        </p:spPr>
        <p:txBody>
          <a:bodyPr wrap="square" lIns="0" tIns="0" rIns="0" bIns="0" rtlCol="0" anchor="ctr"/>
          <a:lstStyle/>
          <a:p>
            <a:pPr algn="ctr" indent="0" marL="0">
              <a:buNone/>
            </a:pPr>
            <a:r>
              <a:rPr lang="en-US" sz="1100" spc="100" kern="0" dirty="0">
                <a:solidFill>
                  <a:srgbClr val="FFFFFF"/>
                </a:solidFill>
                <a:latin typeface="Calibri" pitchFamily="34" charset="0"/>
                <a:ea typeface="Calibri" pitchFamily="34" charset="-122"/>
                <a:cs typeface="Calibri" pitchFamily="34" charset="-120"/>
              </a:rPr>
              <a:t>CSV FILES</a:t>
            </a:r>
            <a:endParaRPr lang="en-US" sz="1100" dirty="0"/>
          </a:p>
        </p:txBody>
      </p:sp>
      <p:sp>
        <p:nvSpPr>
          <p:cNvPr id="12" name="Shape 10"/>
          <p:cNvSpPr/>
          <p:nvPr/>
        </p:nvSpPr>
        <p:spPr>
          <a:xfrm>
            <a:off x="5943600" y="1874520"/>
            <a:ext cx="2514600" cy="1280160"/>
          </a:xfrm>
          <a:prstGeom prst="roundRect">
            <a:avLst>
              <a:gd name="adj" fmla="val 5714"/>
            </a:avLst>
          </a:prstGeom>
          <a:solidFill>
            <a:srgbClr val="111111"/>
          </a:solidFill>
          <a:ln/>
          <a:effectLst>
            <a:outerShdw sx="100000" sy="100000" kx="0" ky="0" algn="bl" rotWithShape="0" blurRad="101600" dist="38100" dir="5400000">
              <a:srgbClr val="000000">
                <a:alpha val="18000"/>
              </a:srgbClr>
            </a:outerShdw>
          </a:effectLst>
        </p:spPr>
      </p:sp>
      <p:sp>
        <p:nvSpPr>
          <p:cNvPr id="13" name="Text 11"/>
          <p:cNvSpPr/>
          <p:nvPr/>
        </p:nvSpPr>
        <p:spPr>
          <a:xfrm>
            <a:off x="5943600" y="1984248"/>
            <a:ext cx="25146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26,000+</a:t>
            </a:r>
            <a:endParaRPr lang="en-US" sz="2600" dirty="0"/>
          </a:p>
        </p:txBody>
      </p:sp>
      <p:sp>
        <p:nvSpPr>
          <p:cNvPr id="14" name="Text 12"/>
          <p:cNvSpPr/>
          <p:nvPr/>
        </p:nvSpPr>
        <p:spPr>
          <a:xfrm>
            <a:off x="5943600" y="2715768"/>
            <a:ext cx="2514600" cy="320040"/>
          </a:xfrm>
          <a:prstGeom prst="rect">
            <a:avLst/>
          </a:prstGeom>
          <a:noFill/>
          <a:ln/>
        </p:spPr>
        <p:txBody>
          <a:bodyPr wrap="square" lIns="0" tIns="0" rIns="0" bIns="0" rtlCol="0" anchor="ctr"/>
          <a:lstStyle/>
          <a:p>
            <a:pPr algn="ctr" indent="0" marL="0">
              <a:buNone/>
            </a:pPr>
            <a:r>
              <a:rPr lang="en-US" sz="1100" spc="100" kern="0" dirty="0">
                <a:solidFill>
                  <a:srgbClr val="FFFFFF"/>
                </a:solidFill>
                <a:latin typeface="Calibri" pitchFamily="34" charset="0"/>
                <a:ea typeface="Calibri" pitchFamily="34" charset="-122"/>
                <a:cs typeface="Calibri" pitchFamily="34" charset="-120"/>
              </a:rPr>
              <a:t>ROWS</a:t>
            </a:r>
            <a:endParaRPr lang="en-US" sz="1100" dirty="0"/>
          </a:p>
        </p:txBody>
      </p:sp>
      <p:sp>
        <p:nvSpPr>
          <p:cNvPr id="15" name="Shape 13"/>
          <p:cNvSpPr/>
          <p:nvPr/>
        </p:nvSpPr>
        <p:spPr>
          <a:xfrm>
            <a:off x="8686800" y="1874520"/>
            <a:ext cx="2514600" cy="1280160"/>
          </a:xfrm>
          <a:prstGeom prst="roundRect">
            <a:avLst>
              <a:gd name="adj" fmla="val 5714"/>
            </a:avLst>
          </a:prstGeom>
          <a:solidFill>
            <a:srgbClr val="C8102E"/>
          </a:solidFill>
          <a:ln/>
          <a:effectLst>
            <a:outerShdw sx="100000" sy="100000" kx="0" ky="0" algn="bl" rotWithShape="0" blurRad="101600" dist="38100" dir="5400000">
              <a:srgbClr val="000000">
                <a:alpha val="18000"/>
              </a:srgbClr>
            </a:outerShdw>
          </a:effectLst>
        </p:spPr>
      </p:sp>
      <p:sp>
        <p:nvSpPr>
          <p:cNvPr id="16" name="Text 14"/>
          <p:cNvSpPr/>
          <p:nvPr/>
        </p:nvSpPr>
        <p:spPr>
          <a:xfrm>
            <a:off x="8686800" y="1984248"/>
            <a:ext cx="25146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21</a:t>
            </a:r>
            <a:endParaRPr lang="en-US" sz="2600" dirty="0"/>
          </a:p>
        </p:txBody>
      </p:sp>
      <p:sp>
        <p:nvSpPr>
          <p:cNvPr id="17" name="Text 15"/>
          <p:cNvSpPr/>
          <p:nvPr/>
        </p:nvSpPr>
        <p:spPr>
          <a:xfrm>
            <a:off x="8686800" y="2715768"/>
            <a:ext cx="2514600" cy="320040"/>
          </a:xfrm>
          <a:prstGeom prst="rect">
            <a:avLst/>
          </a:prstGeom>
          <a:noFill/>
          <a:ln/>
        </p:spPr>
        <p:txBody>
          <a:bodyPr wrap="square" lIns="0" tIns="0" rIns="0" bIns="0" rtlCol="0" anchor="ctr"/>
          <a:lstStyle/>
          <a:p>
            <a:pPr algn="ctr" indent="0" marL="0">
              <a:buNone/>
            </a:pPr>
            <a:r>
              <a:rPr lang="en-US" sz="1100" spc="100" kern="0" dirty="0">
                <a:solidFill>
                  <a:srgbClr val="FFFFFF"/>
                </a:solidFill>
                <a:latin typeface="Calibri" pitchFamily="34" charset="0"/>
                <a:ea typeface="Calibri" pitchFamily="34" charset="-122"/>
                <a:cs typeface="Calibri" pitchFamily="34" charset="-120"/>
              </a:rPr>
              <a:t>COLUMNS</a:t>
            </a:r>
            <a:endParaRPr lang="en-US" sz="1100" dirty="0"/>
          </a:p>
        </p:txBody>
      </p:sp>
      <p:sp>
        <p:nvSpPr>
          <p:cNvPr id="18" name="Text 16"/>
          <p:cNvSpPr/>
          <p:nvPr/>
        </p:nvSpPr>
        <p:spPr>
          <a:xfrm>
            <a:off x="457200" y="3429000"/>
            <a:ext cx="7315200" cy="320040"/>
          </a:xfrm>
          <a:prstGeom prst="rect">
            <a:avLst/>
          </a:prstGeom>
          <a:noFill/>
          <a:ln/>
        </p:spPr>
        <p:txBody>
          <a:bodyPr wrap="square" lIns="0" tIns="0" rIns="0" bIns="0" rtlCol="0" anchor="ctr"/>
          <a:lstStyle/>
          <a:p>
            <a:pPr indent="0" marL="0">
              <a:buNone/>
            </a:pPr>
            <a:r>
              <a:rPr lang="en-US" sz="1300" b="1" spc="120" kern="0" dirty="0">
                <a:solidFill>
                  <a:srgbClr val="C8102E"/>
                </a:solidFill>
                <a:latin typeface="Calibri" pitchFamily="34" charset="0"/>
                <a:ea typeface="Calibri" pitchFamily="34" charset="-122"/>
                <a:cs typeface="Calibri" pitchFamily="34" charset="-120"/>
              </a:rPr>
              <a:t>SOURCE FILES MERGED INTO ONE MASTER TABLE</a:t>
            </a:r>
            <a:endParaRPr lang="en-US" sz="1300" dirty="0"/>
          </a:p>
        </p:txBody>
      </p:sp>
      <p:sp>
        <p:nvSpPr>
          <p:cNvPr id="19" name="Shape 17"/>
          <p:cNvSpPr/>
          <p:nvPr/>
        </p:nvSpPr>
        <p:spPr>
          <a:xfrm>
            <a:off x="502920" y="3895344"/>
            <a:ext cx="109728" cy="109728"/>
          </a:xfrm>
          <a:prstGeom prst="ellipse">
            <a:avLst/>
          </a:prstGeom>
          <a:solidFill>
            <a:srgbClr val="C8102E"/>
          </a:solidFill>
          <a:ln/>
        </p:spPr>
      </p:sp>
      <p:sp>
        <p:nvSpPr>
          <p:cNvPr id="20" name="Text 18"/>
          <p:cNvSpPr/>
          <p:nvPr/>
        </p:nvSpPr>
        <p:spPr>
          <a:xfrm>
            <a:off x="777240" y="3776472"/>
            <a:ext cx="6675120" cy="32004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races.csv  —  </a:t>
            </a:r>
            <a:pPr indent="0" marL="0">
              <a:buNone/>
            </a:pPr>
            <a:r>
              <a:rPr lang="en-US" sz="1300" dirty="0">
                <a:solidFill>
                  <a:srgbClr val="6B6B70"/>
                </a:solidFill>
                <a:latin typeface="Calibri" pitchFamily="34" charset="0"/>
                <a:ea typeface="Calibri" pitchFamily="34" charset="-122"/>
                <a:cs typeface="Calibri" pitchFamily="34" charset="-120"/>
              </a:rPr>
              <a:t>Race calendar, year, round, circuit</a:t>
            </a:r>
            <a:endParaRPr lang="en-US" sz="1300" dirty="0"/>
          </a:p>
        </p:txBody>
      </p:sp>
      <p:sp>
        <p:nvSpPr>
          <p:cNvPr id="21" name="Shape 19"/>
          <p:cNvSpPr/>
          <p:nvPr/>
        </p:nvSpPr>
        <p:spPr>
          <a:xfrm>
            <a:off x="502920" y="4279392"/>
            <a:ext cx="109728" cy="109728"/>
          </a:xfrm>
          <a:prstGeom prst="ellipse">
            <a:avLst/>
          </a:prstGeom>
          <a:solidFill>
            <a:srgbClr val="C8102E"/>
          </a:solidFill>
          <a:ln/>
        </p:spPr>
      </p:sp>
      <p:sp>
        <p:nvSpPr>
          <p:cNvPr id="22" name="Text 20"/>
          <p:cNvSpPr/>
          <p:nvPr/>
        </p:nvSpPr>
        <p:spPr>
          <a:xfrm>
            <a:off x="777240" y="4160520"/>
            <a:ext cx="6675120" cy="32004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results.csv  —  </a:t>
            </a:r>
            <a:pPr indent="0" marL="0">
              <a:buNone/>
            </a:pPr>
            <a:r>
              <a:rPr lang="en-US" sz="1300" dirty="0">
                <a:solidFill>
                  <a:srgbClr val="6B6B70"/>
                </a:solidFill>
                <a:latin typeface="Calibri" pitchFamily="34" charset="0"/>
                <a:ea typeface="Calibri" pitchFamily="34" charset="-122"/>
                <a:cs typeface="Calibri" pitchFamily="34" charset="-120"/>
              </a:rPr>
              <a:t>Finishing position, points, status</a:t>
            </a:r>
            <a:endParaRPr lang="en-US" sz="1300" dirty="0"/>
          </a:p>
        </p:txBody>
      </p:sp>
      <p:sp>
        <p:nvSpPr>
          <p:cNvPr id="23" name="Shape 21"/>
          <p:cNvSpPr/>
          <p:nvPr/>
        </p:nvSpPr>
        <p:spPr>
          <a:xfrm>
            <a:off x="502920" y="4663440"/>
            <a:ext cx="109728" cy="109728"/>
          </a:xfrm>
          <a:prstGeom prst="ellipse">
            <a:avLst/>
          </a:prstGeom>
          <a:solidFill>
            <a:srgbClr val="C8102E"/>
          </a:solidFill>
          <a:ln/>
        </p:spPr>
      </p:sp>
      <p:sp>
        <p:nvSpPr>
          <p:cNvPr id="24" name="Text 22"/>
          <p:cNvSpPr/>
          <p:nvPr/>
        </p:nvSpPr>
        <p:spPr>
          <a:xfrm>
            <a:off x="777240" y="4544568"/>
            <a:ext cx="6675120" cy="32004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drivers.csv &amp; constructors.csv  —  </a:t>
            </a:r>
            <a:pPr indent="0" marL="0">
              <a:buNone/>
            </a:pPr>
            <a:r>
              <a:rPr lang="en-US" sz="1300" dirty="0">
                <a:solidFill>
                  <a:srgbClr val="6B6B70"/>
                </a:solidFill>
                <a:latin typeface="Calibri" pitchFamily="34" charset="0"/>
                <a:ea typeface="Calibri" pitchFamily="34" charset="-122"/>
                <a:cs typeface="Calibri" pitchFamily="34" charset="-120"/>
              </a:rPr>
              <a:t>Driver &amp; team names, info</a:t>
            </a:r>
            <a:endParaRPr lang="en-US" sz="1300" dirty="0"/>
          </a:p>
        </p:txBody>
      </p:sp>
      <p:sp>
        <p:nvSpPr>
          <p:cNvPr id="25" name="Shape 23"/>
          <p:cNvSpPr/>
          <p:nvPr/>
        </p:nvSpPr>
        <p:spPr>
          <a:xfrm>
            <a:off x="502920" y="5047488"/>
            <a:ext cx="109728" cy="109728"/>
          </a:xfrm>
          <a:prstGeom prst="ellipse">
            <a:avLst/>
          </a:prstGeom>
          <a:solidFill>
            <a:srgbClr val="C8102E"/>
          </a:solidFill>
          <a:ln/>
        </p:spPr>
      </p:sp>
      <p:sp>
        <p:nvSpPr>
          <p:cNvPr id="26" name="Text 24"/>
          <p:cNvSpPr/>
          <p:nvPr/>
        </p:nvSpPr>
        <p:spPr>
          <a:xfrm>
            <a:off x="777240" y="4928616"/>
            <a:ext cx="6675120" cy="32004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circuits.csv  —  </a:t>
            </a:r>
            <a:pPr indent="0" marL="0">
              <a:buNone/>
            </a:pPr>
            <a:r>
              <a:rPr lang="en-US" sz="1300" dirty="0">
                <a:solidFill>
                  <a:srgbClr val="6B6B70"/>
                </a:solidFill>
                <a:latin typeface="Calibri" pitchFamily="34" charset="0"/>
                <a:ea typeface="Calibri" pitchFamily="34" charset="-122"/>
                <a:cs typeface="Calibri" pitchFamily="34" charset="-120"/>
              </a:rPr>
              <a:t>Track name, location, country</a:t>
            </a:r>
            <a:endParaRPr lang="en-US" sz="1300" dirty="0"/>
          </a:p>
        </p:txBody>
      </p:sp>
      <p:sp>
        <p:nvSpPr>
          <p:cNvPr id="27" name="Shape 25"/>
          <p:cNvSpPr/>
          <p:nvPr/>
        </p:nvSpPr>
        <p:spPr>
          <a:xfrm>
            <a:off x="502920" y="5431536"/>
            <a:ext cx="109728" cy="109728"/>
          </a:xfrm>
          <a:prstGeom prst="ellipse">
            <a:avLst/>
          </a:prstGeom>
          <a:solidFill>
            <a:srgbClr val="C8102E"/>
          </a:solidFill>
          <a:ln/>
        </p:spPr>
      </p:sp>
      <p:sp>
        <p:nvSpPr>
          <p:cNvPr id="28" name="Text 26"/>
          <p:cNvSpPr/>
          <p:nvPr/>
        </p:nvSpPr>
        <p:spPr>
          <a:xfrm>
            <a:off x="777240" y="5312664"/>
            <a:ext cx="6675120" cy="32004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qualifying.csv  —  </a:t>
            </a:r>
            <a:pPr indent="0" marL="0">
              <a:buNone/>
            </a:pPr>
            <a:r>
              <a:rPr lang="en-US" sz="1300" dirty="0">
                <a:solidFill>
                  <a:srgbClr val="6B6B70"/>
                </a:solidFill>
                <a:latin typeface="Calibri" pitchFamily="34" charset="0"/>
                <a:ea typeface="Calibri" pitchFamily="34" charset="-122"/>
                <a:cs typeface="Calibri" pitchFamily="34" charset="-120"/>
              </a:rPr>
              <a:t>Q1 / Q2 / Q3 session times</a:t>
            </a:r>
            <a:endParaRPr lang="en-US" sz="1300" dirty="0"/>
          </a:p>
        </p:txBody>
      </p:sp>
      <p:sp>
        <p:nvSpPr>
          <p:cNvPr id="29" name="Shape 27"/>
          <p:cNvSpPr/>
          <p:nvPr/>
        </p:nvSpPr>
        <p:spPr>
          <a:xfrm>
            <a:off x="8229600" y="3429000"/>
            <a:ext cx="3520440" cy="2743200"/>
          </a:xfrm>
          <a:prstGeom prst="roundRect">
            <a:avLst>
              <a:gd name="adj" fmla="val 2667"/>
            </a:avLst>
          </a:prstGeom>
          <a:solidFill>
            <a:srgbClr val="1B1B1F"/>
          </a:solidFill>
          <a:ln/>
          <a:effectLst>
            <a:outerShdw sx="100000" sy="100000" kx="0" ky="0" algn="bl" rotWithShape="0" blurRad="101600" dist="38100" dir="5400000">
              <a:srgbClr val="000000">
                <a:alpha val="18000"/>
              </a:srgbClr>
            </a:outerShdw>
          </a:effectLst>
        </p:spPr>
      </p:sp>
      <p:sp>
        <p:nvSpPr>
          <p:cNvPr id="30" name="Text 28"/>
          <p:cNvSpPr/>
          <p:nvPr/>
        </p:nvSpPr>
        <p:spPr>
          <a:xfrm>
            <a:off x="8503920" y="3611880"/>
            <a:ext cx="3017520" cy="320040"/>
          </a:xfrm>
          <a:prstGeom prst="rect">
            <a:avLst/>
          </a:prstGeom>
          <a:noFill/>
          <a:ln/>
        </p:spPr>
        <p:txBody>
          <a:bodyPr wrap="square" lIns="0" tIns="0" rIns="0" bIns="0" rtlCol="0" anchor="ctr"/>
          <a:lstStyle/>
          <a:p>
            <a:pPr indent="0" marL="0">
              <a:buNone/>
            </a:pPr>
            <a:r>
              <a:rPr lang="en-US" sz="1200" b="1" spc="120" kern="0" dirty="0">
                <a:solidFill>
                  <a:srgbClr val="D4AF37"/>
                </a:solidFill>
                <a:latin typeface="Calibri" pitchFamily="34" charset="0"/>
                <a:ea typeface="Calibri" pitchFamily="34" charset="-122"/>
                <a:cs typeface="Calibri" pitchFamily="34" charset="-120"/>
              </a:rPr>
              <a:t>JOIN KEYS</a:t>
            </a:r>
            <a:endParaRPr lang="en-US" sz="1200" dirty="0"/>
          </a:p>
        </p:txBody>
      </p:sp>
      <p:sp>
        <p:nvSpPr>
          <p:cNvPr id="31" name="Text 29"/>
          <p:cNvSpPr/>
          <p:nvPr/>
        </p:nvSpPr>
        <p:spPr>
          <a:xfrm>
            <a:off x="8503920" y="3977640"/>
            <a:ext cx="3017520" cy="1554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FFFFFF"/>
                </a:solidFill>
                <a:latin typeface="Courier New" pitchFamily="34" charset="0"/>
                <a:ea typeface="Courier New" pitchFamily="34" charset="-122"/>
                <a:cs typeface="Courier New" pitchFamily="34" charset="-120"/>
              </a:rPr>
              <a:t>driverId</a:t>
            </a:r>
            <a:endParaRPr lang="en-US" sz="1400" dirty="0"/>
          </a:p>
          <a:p>
            <a:pPr marL="342900" indent="-342900">
              <a:spcAft>
                <a:spcPts val="1000"/>
              </a:spcAft>
              <a:buSzPct val="100000"/>
              <a:buChar char="•"/>
            </a:pPr>
            <a:r>
              <a:rPr lang="en-US" sz="1400" dirty="0">
                <a:solidFill>
                  <a:srgbClr val="FFFFFF"/>
                </a:solidFill>
                <a:latin typeface="Courier New" pitchFamily="34" charset="0"/>
                <a:ea typeface="Courier New" pitchFamily="34" charset="-122"/>
                <a:cs typeface="Courier New" pitchFamily="34" charset="-120"/>
              </a:rPr>
              <a:t>constructorId</a:t>
            </a:r>
            <a:endParaRPr lang="en-US" sz="1400" dirty="0"/>
          </a:p>
          <a:p>
            <a:pPr marL="342900" indent="-342900">
              <a:spcAft>
                <a:spcPts val="1000"/>
              </a:spcAft>
              <a:buSzPct val="100000"/>
              <a:buChar char="•"/>
            </a:pPr>
            <a:r>
              <a:rPr lang="en-US" sz="1400" dirty="0">
                <a:solidFill>
                  <a:srgbClr val="FFFFFF"/>
                </a:solidFill>
                <a:latin typeface="Courier New" pitchFamily="34" charset="0"/>
                <a:ea typeface="Courier New" pitchFamily="34" charset="-122"/>
                <a:cs typeface="Courier New" pitchFamily="34" charset="-120"/>
              </a:rPr>
              <a:t>raceId</a:t>
            </a:r>
            <a:endParaRPr lang="en-US" sz="1400" dirty="0"/>
          </a:p>
          <a:p>
            <a:pPr marL="342900" indent="-342900">
              <a:spcAft>
                <a:spcPts val="1000"/>
              </a:spcAft>
              <a:buSzPct val="100000"/>
              <a:buChar char="•"/>
            </a:pPr>
            <a:r>
              <a:rPr lang="en-US" sz="1400" dirty="0">
                <a:solidFill>
                  <a:srgbClr val="FFFFFF"/>
                </a:solidFill>
                <a:latin typeface="Courier New" pitchFamily="34" charset="0"/>
                <a:ea typeface="Courier New" pitchFamily="34" charset="-122"/>
                <a:cs typeface="Courier New" pitchFamily="34" charset="-120"/>
              </a:rPr>
              <a:t>circuitId</a:t>
            </a:r>
            <a:endParaRPr lang="en-US" sz="1400" dirty="0"/>
          </a:p>
        </p:txBody>
      </p:sp>
      <p:sp>
        <p:nvSpPr>
          <p:cNvPr id="32" name="Text 30"/>
          <p:cNvSpPr/>
          <p:nvPr/>
        </p:nvSpPr>
        <p:spPr>
          <a:xfrm>
            <a:off x="8503920" y="5623560"/>
            <a:ext cx="3017520" cy="502920"/>
          </a:xfrm>
          <a:prstGeom prst="rect">
            <a:avLst/>
          </a:prstGeom>
          <a:noFill/>
          <a:ln/>
        </p:spPr>
        <p:txBody>
          <a:bodyPr wrap="square" lIns="0" tIns="0" rIns="0" bIns="0" rtlCol="0" anchor="ctr"/>
          <a:lstStyle/>
          <a:p>
            <a:pPr indent="0" marL="0">
              <a:buNone/>
            </a:pPr>
            <a:r>
              <a:rPr lang="en-US" sz="1050" i="1" dirty="0">
                <a:solidFill>
                  <a:srgbClr val="E4E4E7"/>
                </a:solidFill>
                <a:latin typeface="Calibri" pitchFamily="34" charset="0"/>
                <a:ea typeface="Calibri" pitchFamily="34" charset="-122"/>
                <a:cs typeface="Calibri" pitchFamily="34" charset="-120"/>
              </a:rPr>
              <a:t>All six files joined on these shared identifiers to build one analysis-ready table.</a:t>
            </a:r>
            <a:endParaRPr lang="en-US" sz="1050" dirty="0"/>
          </a:p>
        </p:txBody>
      </p:sp>
      <p:sp>
        <p:nvSpPr>
          <p:cNvPr id="33" name="Text 31"/>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6B70"/>
                </a:solidFill>
                <a:latin typeface="Calibri" pitchFamily="34" charset="0"/>
                <a:ea typeface="Calibri" pitchFamily="34" charset="-122"/>
                <a:cs typeface="Calibri" pitchFamily="34" charset="-120"/>
              </a:rPr>
              <a:t>F1 Race Performance Analytics  •  Power BI Project</a:t>
            </a:r>
            <a:endParaRPr lang="en-US" sz="900" dirty="0"/>
          </a:p>
        </p:txBody>
      </p:sp>
      <p:sp>
        <p:nvSpPr>
          <p:cNvPr id="34" name="Text 32"/>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C8102E"/>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4" name="Text 2"/>
          <p:cNvSpPr/>
          <p:nvPr/>
        </p:nvSpPr>
        <p:spPr>
          <a:xfrm>
            <a:off x="1097280" y="457200"/>
            <a:ext cx="7315200" cy="457200"/>
          </a:xfrm>
          <a:prstGeom prst="rect">
            <a:avLst/>
          </a:prstGeom>
          <a:noFill/>
          <a:ln/>
        </p:spPr>
        <p:txBody>
          <a:bodyPr wrap="square" lIns="0" tIns="0" rIns="0" bIns="0" rtlCol="0" anchor="ctr"/>
          <a:lstStyle/>
          <a:p>
            <a:pPr indent="0" marL="0">
              <a:buNone/>
            </a:pPr>
            <a:r>
              <a:rPr lang="en-US" sz="1300" b="1" spc="200" kern="0" dirty="0">
                <a:solidFill>
                  <a:srgbClr val="6B6B70"/>
                </a:solidFill>
                <a:latin typeface="Calibri" pitchFamily="34" charset="0"/>
                <a:ea typeface="Calibri" pitchFamily="34" charset="-122"/>
                <a:cs typeface="Calibri" pitchFamily="34" charset="-120"/>
              </a:rPr>
              <a:t>DATA INTEGRATION</a:t>
            </a:r>
            <a:endParaRPr lang="en-US" sz="1300" dirty="0"/>
          </a:p>
        </p:txBody>
      </p:sp>
      <p:sp>
        <p:nvSpPr>
          <p:cNvPr id="5" name="Text 3"/>
          <p:cNvSpPr/>
          <p:nvPr/>
        </p:nvSpPr>
        <p:spPr>
          <a:xfrm>
            <a:off x="457200" y="960120"/>
            <a:ext cx="10789920" cy="731520"/>
          </a:xfrm>
          <a:prstGeom prst="rect">
            <a:avLst/>
          </a:prstGeom>
          <a:noFill/>
          <a:ln/>
        </p:spPr>
        <p:txBody>
          <a:bodyPr wrap="square" lIns="0" tIns="0" rIns="0" bIns="0" rtlCol="0" anchor="ctr"/>
          <a:lstStyle/>
          <a:p>
            <a:pPr indent="0" marL="0">
              <a:buNone/>
            </a:pPr>
            <a:r>
              <a:rPr lang="en-US" sz="3000" b="1" dirty="0">
                <a:solidFill>
                  <a:srgbClr val="111111"/>
                </a:solidFill>
                <a:latin typeface="Cambria" pitchFamily="34" charset="0"/>
                <a:ea typeface="Cambria" pitchFamily="34" charset="-122"/>
                <a:cs typeface="Cambria" pitchFamily="34" charset="-120"/>
              </a:rPr>
              <a:t>Merging Six Datasets into One Master Table</a:t>
            </a:r>
            <a:endParaRPr lang="en-US" sz="3000" dirty="0"/>
          </a:p>
        </p:txBody>
      </p:sp>
      <p:sp>
        <p:nvSpPr>
          <p:cNvPr id="6" name="Shape 4"/>
          <p:cNvSpPr/>
          <p:nvPr/>
        </p:nvSpPr>
        <p:spPr>
          <a:xfrm>
            <a:off x="457200" y="2011680"/>
            <a:ext cx="1600200" cy="868680"/>
          </a:xfrm>
          <a:prstGeom prst="roundRect">
            <a:avLst>
              <a:gd name="adj" fmla="val 6316"/>
            </a:avLst>
          </a:prstGeom>
          <a:solidFill>
            <a:srgbClr val="F7F7F8"/>
          </a:solidFill>
          <a:ln w="12700">
            <a:solidFill>
              <a:srgbClr val="E4E4E7"/>
            </a:solidFill>
            <a:prstDash val="solid"/>
          </a:ln>
        </p:spPr>
      </p:sp>
      <p:sp>
        <p:nvSpPr>
          <p:cNvPr id="7" name="Text 5"/>
          <p:cNvSpPr/>
          <p:nvPr/>
        </p:nvSpPr>
        <p:spPr>
          <a:xfrm>
            <a:off x="457200" y="2011680"/>
            <a:ext cx="1600200" cy="868680"/>
          </a:xfrm>
          <a:prstGeom prst="rect">
            <a:avLst/>
          </a:prstGeom>
          <a:noFill/>
          <a:ln/>
        </p:spPr>
        <p:txBody>
          <a:bodyPr wrap="square" lIns="0" tIns="0" rIns="0" bIns="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races.csv</a:t>
            </a:r>
            <a:endParaRPr lang="en-US" sz="1300" dirty="0"/>
          </a:p>
        </p:txBody>
      </p:sp>
      <p:sp>
        <p:nvSpPr>
          <p:cNvPr id="8" name="Shape 6"/>
          <p:cNvSpPr/>
          <p:nvPr/>
        </p:nvSpPr>
        <p:spPr>
          <a:xfrm>
            <a:off x="2221992" y="2011680"/>
            <a:ext cx="1600200" cy="868680"/>
          </a:xfrm>
          <a:prstGeom prst="roundRect">
            <a:avLst>
              <a:gd name="adj" fmla="val 6316"/>
            </a:avLst>
          </a:prstGeom>
          <a:solidFill>
            <a:srgbClr val="F7F7F8"/>
          </a:solidFill>
          <a:ln w="12700">
            <a:solidFill>
              <a:srgbClr val="E4E4E7"/>
            </a:solidFill>
            <a:prstDash val="solid"/>
          </a:ln>
        </p:spPr>
      </p:sp>
      <p:sp>
        <p:nvSpPr>
          <p:cNvPr id="9" name="Text 7"/>
          <p:cNvSpPr/>
          <p:nvPr/>
        </p:nvSpPr>
        <p:spPr>
          <a:xfrm>
            <a:off x="2221992" y="2011680"/>
            <a:ext cx="1600200" cy="868680"/>
          </a:xfrm>
          <a:prstGeom prst="rect">
            <a:avLst/>
          </a:prstGeom>
          <a:noFill/>
          <a:ln/>
        </p:spPr>
        <p:txBody>
          <a:bodyPr wrap="square" lIns="0" tIns="0" rIns="0" bIns="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results.csv</a:t>
            </a:r>
            <a:endParaRPr lang="en-US" sz="1300" dirty="0"/>
          </a:p>
        </p:txBody>
      </p:sp>
      <p:sp>
        <p:nvSpPr>
          <p:cNvPr id="10" name="Shape 8"/>
          <p:cNvSpPr/>
          <p:nvPr/>
        </p:nvSpPr>
        <p:spPr>
          <a:xfrm>
            <a:off x="3986784" y="2011680"/>
            <a:ext cx="1600200" cy="868680"/>
          </a:xfrm>
          <a:prstGeom prst="roundRect">
            <a:avLst>
              <a:gd name="adj" fmla="val 6316"/>
            </a:avLst>
          </a:prstGeom>
          <a:solidFill>
            <a:srgbClr val="F7F7F8"/>
          </a:solidFill>
          <a:ln w="12700">
            <a:solidFill>
              <a:srgbClr val="E4E4E7"/>
            </a:solidFill>
            <a:prstDash val="solid"/>
          </a:ln>
        </p:spPr>
      </p:sp>
      <p:sp>
        <p:nvSpPr>
          <p:cNvPr id="11" name="Text 9"/>
          <p:cNvSpPr/>
          <p:nvPr/>
        </p:nvSpPr>
        <p:spPr>
          <a:xfrm>
            <a:off x="3986784" y="2011680"/>
            <a:ext cx="1600200" cy="868680"/>
          </a:xfrm>
          <a:prstGeom prst="rect">
            <a:avLst/>
          </a:prstGeom>
          <a:noFill/>
          <a:ln/>
        </p:spPr>
        <p:txBody>
          <a:bodyPr wrap="square" lIns="0" tIns="0" rIns="0" bIns="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drivers.csv</a:t>
            </a:r>
            <a:endParaRPr lang="en-US" sz="1300" dirty="0"/>
          </a:p>
        </p:txBody>
      </p:sp>
      <p:sp>
        <p:nvSpPr>
          <p:cNvPr id="12" name="Shape 10"/>
          <p:cNvSpPr/>
          <p:nvPr/>
        </p:nvSpPr>
        <p:spPr>
          <a:xfrm>
            <a:off x="5751576" y="2011680"/>
            <a:ext cx="1600200" cy="868680"/>
          </a:xfrm>
          <a:prstGeom prst="roundRect">
            <a:avLst>
              <a:gd name="adj" fmla="val 6316"/>
            </a:avLst>
          </a:prstGeom>
          <a:solidFill>
            <a:srgbClr val="F7F7F8"/>
          </a:solidFill>
          <a:ln w="12700">
            <a:solidFill>
              <a:srgbClr val="E4E4E7"/>
            </a:solidFill>
            <a:prstDash val="solid"/>
          </a:ln>
        </p:spPr>
      </p:sp>
      <p:sp>
        <p:nvSpPr>
          <p:cNvPr id="13" name="Text 11"/>
          <p:cNvSpPr/>
          <p:nvPr/>
        </p:nvSpPr>
        <p:spPr>
          <a:xfrm>
            <a:off x="5751576" y="2011680"/>
            <a:ext cx="1600200" cy="868680"/>
          </a:xfrm>
          <a:prstGeom prst="rect">
            <a:avLst/>
          </a:prstGeom>
          <a:noFill/>
          <a:ln/>
        </p:spPr>
        <p:txBody>
          <a:bodyPr wrap="square" lIns="0" tIns="0" rIns="0" bIns="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constructors.csv</a:t>
            </a:r>
            <a:endParaRPr lang="en-US" sz="1300" dirty="0"/>
          </a:p>
        </p:txBody>
      </p:sp>
      <p:sp>
        <p:nvSpPr>
          <p:cNvPr id="14" name="Shape 12"/>
          <p:cNvSpPr/>
          <p:nvPr/>
        </p:nvSpPr>
        <p:spPr>
          <a:xfrm>
            <a:off x="7516368" y="2011680"/>
            <a:ext cx="1600200" cy="868680"/>
          </a:xfrm>
          <a:prstGeom prst="roundRect">
            <a:avLst>
              <a:gd name="adj" fmla="val 6316"/>
            </a:avLst>
          </a:prstGeom>
          <a:solidFill>
            <a:srgbClr val="F7F7F8"/>
          </a:solidFill>
          <a:ln w="12700">
            <a:solidFill>
              <a:srgbClr val="E4E4E7"/>
            </a:solidFill>
            <a:prstDash val="solid"/>
          </a:ln>
        </p:spPr>
      </p:sp>
      <p:sp>
        <p:nvSpPr>
          <p:cNvPr id="15" name="Text 13"/>
          <p:cNvSpPr/>
          <p:nvPr/>
        </p:nvSpPr>
        <p:spPr>
          <a:xfrm>
            <a:off x="7516368" y="2011680"/>
            <a:ext cx="1600200" cy="868680"/>
          </a:xfrm>
          <a:prstGeom prst="rect">
            <a:avLst/>
          </a:prstGeom>
          <a:noFill/>
          <a:ln/>
        </p:spPr>
        <p:txBody>
          <a:bodyPr wrap="square" lIns="0" tIns="0" rIns="0" bIns="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circuits.csv</a:t>
            </a:r>
            <a:endParaRPr lang="en-US" sz="1300" dirty="0"/>
          </a:p>
        </p:txBody>
      </p:sp>
      <p:sp>
        <p:nvSpPr>
          <p:cNvPr id="16" name="Shape 14"/>
          <p:cNvSpPr/>
          <p:nvPr/>
        </p:nvSpPr>
        <p:spPr>
          <a:xfrm>
            <a:off x="9281160" y="2011680"/>
            <a:ext cx="1600200" cy="868680"/>
          </a:xfrm>
          <a:prstGeom prst="roundRect">
            <a:avLst>
              <a:gd name="adj" fmla="val 6316"/>
            </a:avLst>
          </a:prstGeom>
          <a:solidFill>
            <a:srgbClr val="F7F7F8"/>
          </a:solidFill>
          <a:ln w="12700">
            <a:solidFill>
              <a:srgbClr val="E4E4E7"/>
            </a:solidFill>
            <a:prstDash val="solid"/>
          </a:ln>
        </p:spPr>
      </p:sp>
      <p:sp>
        <p:nvSpPr>
          <p:cNvPr id="17" name="Text 15"/>
          <p:cNvSpPr/>
          <p:nvPr/>
        </p:nvSpPr>
        <p:spPr>
          <a:xfrm>
            <a:off x="9281160" y="2011680"/>
            <a:ext cx="1600200" cy="868680"/>
          </a:xfrm>
          <a:prstGeom prst="rect">
            <a:avLst/>
          </a:prstGeom>
          <a:noFill/>
          <a:ln/>
        </p:spPr>
        <p:txBody>
          <a:bodyPr wrap="square" lIns="0" tIns="0" rIns="0" bIns="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qualifying.csv</a:t>
            </a:r>
            <a:endParaRPr lang="en-US" sz="1300" dirty="0"/>
          </a:p>
        </p:txBody>
      </p:sp>
      <p:sp>
        <p:nvSpPr>
          <p:cNvPr id="18" name="Shape 16"/>
          <p:cNvSpPr/>
          <p:nvPr/>
        </p:nvSpPr>
        <p:spPr>
          <a:xfrm>
            <a:off x="1257300" y="2880360"/>
            <a:ext cx="4411980" cy="914400"/>
          </a:xfrm>
          <a:prstGeom prst="line">
            <a:avLst/>
          </a:prstGeom>
          <a:noFill/>
          <a:ln w="19050">
            <a:solidFill>
              <a:srgbClr val="C8102E"/>
            </a:solidFill>
            <a:prstDash val="solid"/>
          </a:ln>
        </p:spPr>
      </p:sp>
      <p:sp>
        <p:nvSpPr>
          <p:cNvPr id="19" name="Shape 17"/>
          <p:cNvSpPr/>
          <p:nvPr/>
        </p:nvSpPr>
        <p:spPr>
          <a:xfrm>
            <a:off x="3022092" y="2880360"/>
            <a:ext cx="2647188" cy="914400"/>
          </a:xfrm>
          <a:prstGeom prst="line">
            <a:avLst/>
          </a:prstGeom>
          <a:noFill/>
          <a:ln w="19050">
            <a:solidFill>
              <a:srgbClr val="C8102E"/>
            </a:solidFill>
            <a:prstDash val="solid"/>
          </a:ln>
        </p:spPr>
      </p:sp>
      <p:sp>
        <p:nvSpPr>
          <p:cNvPr id="20" name="Shape 18"/>
          <p:cNvSpPr/>
          <p:nvPr/>
        </p:nvSpPr>
        <p:spPr>
          <a:xfrm>
            <a:off x="4786884" y="2880360"/>
            <a:ext cx="882396" cy="914400"/>
          </a:xfrm>
          <a:prstGeom prst="line">
            <a:avLst/>
          </a:prstGeom>
          <a:noFill/>
          <a:ln w="19050">
            <a:solidFill>
              <a:srgbClr val="C8102E"/>
            </a:solidFill>
            <a:prstDash val="solid"/>
          </a:ln>
        </p:spPr>
      </p:sp>
      <p:sp>
        <p:nvSpPr>
          <p:cNvPr id="21" name="Shape 19"/>
          <p:cNvSpPr/>
          <p:nvPr/>
        </p:nvSpPr>
        <p:spPr>
          <a:xfrm>
            <a:off x="5669280" y="2880360"/>
            <a:ext cx="882396" cy="914400"/>
          </a:xfrm>
          <a:prstGeom prst="line">
            <a:avLst/>
          </a:prstGeom>
          <a:noFill/>
          <a:ln w="19050">
            <a:solidFill>
              <a:srgbClr val="C8102E"/>
            </a:solidFill>
            <a:prstDash val="solid"/>
          </a:ln>
        </p:spPr>
      </p:sp>
      <p:sp>
        <p:nvSpPr>
          <p:cNvPr id="22" name="Shape 20"/>
          <p:cNvSpPr/>
          <p:nvPr/>
        </p:nvSpPr>
        <p:spPr>
          <a:xfrm>
            <a:off x="5669280" y="2880360"/>
            <a:ext cx="2647188" cy="914400"/>
          </a:xfrm>
          <a:prstGeom prst="line">
            <a:avLst/>
          </a:prstGeom>
          <a:noFill/>
          <a:ln w="19050">
            <a:solidFill>
              <a:srgbClr val="C8102E"/>
            </a:solidFill>
            <a:prstDash val="solid"/>
          </a:ln>
        </p:spPr>
      </p:sp>
      <p:sp>
        <p:nvSpPr>
          <p:cNvPr id="23" name="Shape 21"/>
          <p:cNvSpPr/>
          <p:nvPr/>
        </p:nvSpPr>
        <p:spPr>
          <a:xfrm>
            <a:off x="5669280" y="2880360"/>
            <a:ext cx="4411980" cy="914400"/>
          </a:xfrm>
          <a:prstGeom prst="line">
            <a:avLst/>
          </a:prstGeom>
          <a:noFill/>
          <a:ln w="19050">
            <a:solidFill>
              <a:srgbClr val="C8102E"/>
            </a:solidFill>
            <a:prstDash val="solid"/>
          </a:ln>
        </p:spPr>
      </p:sp>
      <p:sp>
        <p:nvSpPr>
          <p:cNvPr id="24" name="Shape 22"/>
          <p:cNvSpPr/>
          <p:nvPr/>
        </p:nvSpPr>
        <p:spPr>
          <a:xfrm>
            <a:off x="3122676" y="3840480"/>
            <a:ext cx="5943600" cy="1188720"/>
          </a:xfrm>
          <a:prstGeom prst="roundRect">
            <a:avLst>
              <a:gd name="adj" fmla="val 7692"/>
            </a:avLst>
          </a:prstGeom>
          <a:solidFill>
            <a:srgbClr val="111111"/>
          </a:solidFill>
          <a:ln/>
          <a:effectLst>
            <a:outerShdw sx="100000" sy="100000" kx="0" ky="0" algn="bl" rotWithShape="0" blurRad="101600" dist="38100" dir="5400000">
              <a:srgbClr val="000000">
                <a:alpha val="18000"/>
              </a:srgbClr>
            </a:outerShdw>
          </a:effectLst>
        </p:spPr>
      </p:sp>
      <p:sp>
        <p:nvSpPr>
          <p:cNvPr id="25" name="Text 23"/>
          <p:cNvSpPr/>
          <p:nvPr/>
        </p:nvSpPr>
        <p:spPr>
          <a:xfrm>
            <a:off x="3122676" y="3977640"/>
            <a:ext cx="59436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master_f1_dataset.csv</a:t>
            </a:r>
            <a:endParaRPr lang="en-US" sz="1800" dirty="0"/>
          </a:p>
        </p:txBody>
      </p:sp>
      <p:sp>
        <p:nvSpPr>
          <p:cNvPr id="26" name="Text 24"/>
          <p:cNvSpPr/>
          <p:nvPr/>
        </p:nvSpPr>
        <p:spPr>
          <a:xfrm>
            <a:off x="3122676" y="4480560"/>
            <a:ext cx="5943600" cy="457200"/>
          </a:xfrm>
          <a:prstGeom prst="rect">
            <a:avLst/>
          </a:prstGeom>
          <a:noFill/>
          <a:ln/>
        </p:spPr>
        <p:txBody>
          <a:bodyPr wrap="square" lIns="0" tIns="0" rIns="0" bIns="0" rtlCol="0" anchor="ctr"/>
          <a:lstStyle/>
          <a:p>
            <a:pPr algn="ctr" indent="0" marL="0">
              <a:buNone/>
            </a:pPr>
            <a:r>
              <a:rPr lang="en-US" sz="1150" dirty="0">
                <a:solidFill>
                  <a:srgbClr val="E4E4E7"/>
                </a:solidFill>
                <a:latin typeface="Calibri" pitchFamily="34" charset="0"/>
                <a:ea typeface="Calibri" pitchFamily="34" charset="-122"/>
                <a:cs typeface="Calibri" pitchFamily="34" charset="-120"/>
              </a:rPr>
              <a:t>One driver-race row  •  21 final columns  •  joined on driverId, constructorId, raceId &amp; circuitId</a:t>
            </a:r>
            <a:endParaRPr lang="en-US" sz="1150" dirty="0"/>
          </a:p>
        </p:txBody>
      </p:sp>
      <p:sp>
        <p:nvSpPr>
          <p:cNvPr id="27" name="Text 25"/>
          <p:cNvSpPr/>
          <p:nvPr/>
        </p:nvSpPr>
        <p:spPr>
          <a:xfrm>
            <a:off x="640080" y="5349240"/>
            <a:ext cx="10881360" cy="548640"/>
          </a:xfrm>
          <a:prstGeom prst="rect">
            <a:avLst/>
          </a:prstGeom>
          <a:noFill/>
          <a:ln/>
        </p:spPr>
        <p:txBody>
          <a:bodyPr wrap="square" lIns="0" tIns="0" rIns="0" bIns="0" rtlCol="0" anchor="ctr"/>
          <a:lstStyle/>
          <a:p>
            <a:pPr algn="ctr" indent="0" marL="0">
              <a:buNone/>
            </a:pPr>
            <a:r>
              <a:rPr lang="en-US" sz="1300" i="1" dirty="0">
                <a:solidFill>
                  <a:srgbClr val="6B6B70"/>
                </a:solidFill>
                <a:latin typeface="Calibri" pitchFamily="34" charset="0"/>
                <a:ea typeface="Calibri" pitchFamily="34" charset="-122"/>
                <a:cs typeface="Calibri" pitchFamily="34" charset="-120"/>
              </a:rPr>
              <a:t>All six files were joined in Python (pandas) and Power Query on shared identifiers, producing a single wide table that powers both the EDA notebook and the Power BI dashboard.</a:t>
            </a:r>
            <a:endParaRPr lang="en-US" sz="130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6B70"/>
                </a:solidFill>
                <a:latin typeface="Calibri" pitchFamily="34" charset="0"/>
                <a:ea typeface="Calibri" pitchFamily="34" charset="-122"/>
                <a:cs typeface="Calibri" pitchFamily="34" charset="-120"/>
              </a:rPr>
              <a:t>F1 Race Performance Analytics  •  Power BI Project</a:t>
            </a:r>
            <a:endParaRPr lang="en-US" sz="900" dirty="0"/>
          </a:p>
        </p:txBody>
      </p:sp>
      <p:sp>
        <p:nvSpPr>
          <p:cNvPr id="29" name="Text 27"/>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C8102E"/>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04</a:t>
            </a:r>
            <a:endParaRPr lang="en-US" sz="2000" dirty="0"/>
          </a:p>
        </p:txBody>
      </p:sp>
      <p:sp>
        <p:nvSpPr>
          <p:cNvPr id="4" name="Text 2"/>
          <p:cNvSpPr/>
          <p:nvPr/>
        </p:nvSpPr>
        <p:spPr>
          <a:xfrm>
            <a:off x="1097280" y="457200"/>
            <a:ext cx="7315200" cy="457200"/>
          </a:xfrm>
          <a:prstGeom prst="rect">
            <a:avLst/>
          </a:prstGeom>
          <a:noFill/>
          <a:ln/>
        </p:spPr>
        <p:txBody>
          <a:bodyPr wrap="square" lIns="0" tIns="0" rIns="0" bIns="0" rtlCol="0" anchor="ctr"/>
          <a:lstStyle/>
          <a:p>
            <a:pPr indent="0" marL="0">
              <a:buNone/>
            </a:pPr>
            <a:r>
              <a:rPr lang="en-US" sz="1300" b="1" spc="200" kern="0" dirty="0">
                <a:solidFill>
                  <a:srgbClr val="6B6B70"/>
                </a:solidFill>
                <a:latin typeface="Calibri" pitchFamily="34" charset="0"/>
                <a:ea typeface="Calibri" pitchFamily="34" charset="-122"/>
                <a:cs typeface="Calibri" pitchFamily="34" charset="-120"/>
              </a:rPr>
              <a:t>DATA CLEANING</a:t>
            </a:r>
            <a:endParaRPr lang="en-US" sz="1300" dirty="0"/>
          </a:p>
        </p:txBody>
      </p:sp>
      <p:sp>
        <p:nvSpPr>
          <p:cNvPr id="5" name="Text 3"/>
          <p:cNvSpPr/>
          <p:nvPr/>
        </p:nvSpPr>
        <p:spPr>
          <a:xfrm>
            <a:off x="457200" y="960120"/>
            <a:ext cx="10789920" cy="731520"/>
          </a:xfrm>
          <a:prstGeom prst="rect">
            <a:avLst/>
          </a:prstGeom>
          <a:noFill/>
          <a:ln/>
        </p:spPr>
        <p:txBody>
          <a:bodyPr wrap="square" lIns="0" tIns="0" rIns="0" bIns="0" rtlCol="0" anchor="ctr"/>
          <a:lstStyle/>
          <a:p>
            <a:pPr indent="0" marL="0">
              <a:buNone/>
            </a:pPr>
            <a:r>
              <a:rPr lang="en-US" sz="3000" b="1" dirty="0">
                <a:solidFill>
                  <a:srgbClr val="111111"/>
                </a:solidFill>
                <a:latin typeface="Cambria" pitchFamily="34" charset="0"/>
                <a:ea typeface="Cambria" pitchFamily="34" charset="-122"/>
                <a:cs typeface="Cambria" pitchFamily="34" charset="-120"/>
              </a:rPr>
              <a:t>Data Cleaning &amp; Feature Engineering</a:t>
            </a:r>
            <a:endParaRPr lang="en-US" sz="3000" dirty="0"/>
          </a:p>
        </p:txBody>
      </p:sp>
      <p:sp>
        <p:nvSpPr>
          <p:cNvPr id="6" name="Shape 4"/>
          <p:cNvSpPr/>
          <p:nvPr/>
        </p:nvSpPr>
        <p:spPr>
          <a:xfrm>
            <a:off x="457200" y="1874520"/>
            <a:ext cx="2514600" cy="1143000"/>
          </a:xfrm>
          <a:prstGeom prst="roundRect">
            <a:avLst>
              <a:gd name="adj" fmla="val 6400"/>
            </a:avLst>
          </a:prstGeom>
          <a:solidFill>
            <a:srgbClr val="C8102E"/>
          </a:solidFill>
          <a:ln/>
          <a:effectLst>
            <a:outerShdw sx="100000" sy="100000" kx="0" ky="0" algn="bl" rotWithShape="0" blurRad="101600" dist="38100" dir="5400000">
              <a:srgbClr val="000000">
                <a:alpha val="18000"/>
              </a:srgbClr>
            </a:outerShdw>
          </a:effectLst>
        </p:spPr>
      </p:sp>
      <p:sp>
        <p:nvSpPr>
          <p:cNvPr id="7" name="Text 5"/>
          <p:cNvSpPr/>
          <p:nvPr/>
        </p:nvSpPr>
        <p:spPr>
          <a:xfrm>
            <a:off x="457200" y="1947672"/>
            <a:ext cx="251460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0</a:t>
            </a:r>
            <a:endParaRPr lang="en-US" sz="2400" dirty="0"/>
          </a:p>
        </p:txBody>
      </p:sp>
      <p:sp>
        <p:nvSpPr>
          <p:cNvPr id="8" name="Text 6"/>
          <p:cNvSpPr/>
          <p:nvPr/>
        </p:nvSpPr>
        <p:spPr>
          <a:xfrm>
            <a:off x="457200" y="2606040"/>
            <a:ext cx="2514600" cy="365760"/>
          </a:xfrm>
          <a:prstGeom prst="rect">
            <a:avLst/>
          </a:prstGeom>
          <a:noFill/>
          <a:ln/>
        </p:spPr>
        <p:txBody>
          <a:bodyPr wrap="square" lIns="0" tIns="0" rIns="0" bIns="0" rtlCol="0" anchor="ctr"/>
          <a:lstStyle/>
          <a:p>
            <a:pPr algn="ctr" indent="0" marL="0">
              <a:buNone/>
            </a:pPr>
            <a:r>
              <a:rPr lang="en-US" sz="1000" spc="50" kern="0" dirty="0">
                <a:solidFill>
                  <a:srgbClr val="FFFFFF"/>
                </a:solidFill>
                <a:latin typeface="Calibri" pitchFamily="34" charset="0"/>
                <a:ea typeface="Calibri" pitchFamily="34" charset="-122"/>
                <a:cs typeface="Calibri" pitchFamily="34" charset="-120"/>
              </a:rPr>
              <a:t>DUPLICATE ROWS</a:t>
            </a:r>
            <a:endParaRPr lang="en-US" sz="1000" dirty="0"/>
          </a:p>
        </p:txBody>
      </p:sp>
      <p:sp>
        <p:nvSpPr>
          <p:cNvPr id="9" name="Shape 7"/>
          <p:cNvSpPr/>
          <p:nvPr/>
        </p:nvSpPr>
        <p:spPr>
          <a:xfrm>
            <a:off x="3200400" y="1874520"/>
            <a:ext cx="2514600" cy="1143000"/>
          </a:xfrm>
          <a:prstGeom prst="roundRect">
            <a:avLst>
              <a:gd name="adj" fmla="val 6400"/>
            </a:avLst>
          </a:prstGeom>
          <a:solidFill>
            <a:srgbClr val="111111"/>
          </a:solidFill>
          <a:ln/>
          <a:effectLst>
            <a:outerShdw sx="100000" sy="100000" kx="0" ky="0" algn="bl" rotWithShape="0" blurRad="101600" dist="38100" dir="5400000">
              <a:srgbClr val="000000">
                <a:alpha val="18000"/>
              </a:srgbClr>
            </a:outerShdw>
          </a:effectLst>
        </p:spPr>
      </p:sp>
      <p:sp>
        <p:nvSpPr>
          <p:cNvPr id="10" name="Text 8"/>
          <p:cNvSpPr/>
          <p:nvPr/>
        </p:nvSpPr>
        <p:spPr>
          <a:xfrm>
            <a:off x="3200400" y="1947672"/>
            <a:ext cx="251460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68</a:t>
            </a:r>
            <a:endParaRPr lang="en-US" sz="2400" dirty="0"/>
          </a:p>
        </p:txBody>
      </p:sp>
      <p:sp>
        <p:nvSpPr>
          <p:cNvPr id="11" name="Text 9"/>
          <p:cNvSpPr/>
          <p:nvPr/>
        </p:nvSpPr>
        <p:spPr>
          <a:xfrm>
            <a:off x="3200400" y="2606040"/>
            <a:ext cx="2514600" cy="365760"/>
          </a:xfrm>
          <a:prstGeom prst="rect">
            <a:avLst/>
          </a:prstGeom>
          <a:noFill/>
          <a:ln/>
        </p:spPr>
        <p:txBody>
          <a:bodyPr wrap="square" lIns="0" tIns="0" rIns="0" bIns="0" rtlCol="0" anchor="ctr"/>
          <a:lstStyle/>
          <a:p>
            <a:pPr algn="ctr" indent="0" marL="0">
              <a:buNone/>
            </a:pPr>
            <a:r>
              <a:rPr lang="en-US" sz="1000" spc="50" kern="0" dirty="0">
                <a:solidFill>
                  <a:srgbClr val="FFFFFF"/>
                </a:solidFill>
                <a:latin typeface="Calibri" pitchFamily="34" charset="0"/>
                <a:ea typeface="Calibri" pitchFamily="34" charset="-122"/>
                <a:cs typeface="Calibri" pitchFamily="34" charset="-120"/>
              </a:rPr>
              <a:t>VALID NULLS (QUALIFYING)</a:t>
            </a:r>
            <a:endParaRPr lang="en-US" sz="1000" dirty="0"/>
          </a:p>
        </p:txBody>
      </p:sp>
      <p:sp>
        <p:nvSpPr>
          <p:cNvPr id="12" name="Shape 10"/>
          <p:cNvSpPr/>
          <p:nvPr/>
        </p:nvSpPr>
        <p:spPr>
          <a:xfrm>
            <a:off x="5943600" y="1874520"/>
            <a:ext cx="2514600" cy="1143000"/>
          </a:xfrm>
          <a:prstGeom prst="roundRect">
            <a:avLst>
              <a:gd name="adj" fmla="val 6400"/>
            </a:avLst>
          </a:prstGeom>
          <a:solidFill>
            <a:srgbClr val="C8102E"/>
          </a:solidFill>
          <a:ln/>
          <a:effectLst>
            <a:outerShdw sx="100000" sy="100000" kx="0" ky="0" algn="bl" rotWithShape="0" blurRad="101600" dist="38100" dir="5400000">
              <a:srgbClr val="000000">
                <a:alpha val="18000"/>
              </a:srgbClr>
            </a:outerShdw>
          </a:effectLst>
        </p:spPr>
      </p:sp>
      <p:sp>
        <p:nvSpPr>
          <p:cNvPr id="13" name="Text 11"/>
          <p:cNvSpPr/>
          <p:nvPr/>
        </p:nvSpPr>
        <p:spPr>
          <a:xfrm>
            <a:off x="5943600" y="1947672"/>
            <a:ext cx="251460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7</a:t>
            </a:r>
            <a:endParaRPr lang="en-US" sz="2400" dirty="0"/>
          </a:p>
        </p:txBody>
      </p:sp>
      <p:sp>
        <p:nvSpPr>
          <p:cNvPr id="14" name="Text 12"/>
          <p:cNvSpPr/>
          <p:nvPr/>
        </p:nvSpPr>
        <p:spPr>
          <a:xfrm>
            <a:off x="5943600" y="2606040"/>
            <a:ext cx="2514600" cy="365760"/>
          </a:xfrm>
          <a:prstGeom prst="rect">
            <a:avLst/>
          </a:prstGeom>
          <a:noFill/>
          <a:ln/>
        </p:spPr>
        <p:txBody>
          <a:bodyPr wrap="square" lIns="0" tIns="0" rIns="0" bIns="0" rtlCol="0" anchor="ctr"/>
          <a:lstStyle/>
          <a:p>
            <a:pPr algn="ctr" indent="0" marL="0">
              <a:buNone/>
            </a:pPr>
            <a:r>
              <a:rPr lang="en-US" sz="1000" spc="50" kern="0" dirty="0">
                <a:solidFill>
                  <a:srgbClr val="FFFFFF"/>
                </a:solidFill>
                <a:latin typeface="Calibri" pitchFamily="34" charset="0"/>
                <a:ea typeface="Calibri" pitchFamily="34" charset="-122"/>
                <a:cs typeface="Calibri" pitchFamily="34" charset="-120"/>
              </a:rPr>
              <a:t>ENGINEERED FEATURES</a:t>
            </a:r>
            <a:endParaRPr lang="en-US" sz="1000" dirty="0"/>
          </a:p>
        </p:txBody>
      </p:sp>
      <p:sp>
        <p:nvSpPr>
          <p:cNvPr id="15" name="Shape 13"/>
          <p:cNvSpPr/>
          <p:nvPr/>
        </p:nvSpPr>
        <p:spPr>
          <a:xfrm>
            <a:off x="8686800" y="1874520"/>
            <a:ext cx="2514600" cy="1143000"/>
          </a:xfrm>
          <a:prstGeom prst="roundRect">
            <a:avLst>
              <a:gd name="adj" fmla="val 6400"/>
            </a:avLst>
          </a:prstGeom>
          <a:solidFill>
            <a:srgbClr val="111111"/>
          </a:solidFill>
          <a:ln/>
          <a:effectLst>
            <a:outerShdw sx="100000" sy="100000" kx="0" ky="0" algn="bl" rotWithShape="0" blurRad="101600" dist="38100" dir="5400000">
              <a:srgbClr val="000000">
                <a:alpha val="18000"/>
              </a:srgbClr>
            </a:outerShdw>
          </a:effectLst>
        </p:spPr>
      </p:sp>
      <p:sp>
        <p:nvSpPr>
          <p:cNvPr id="16" name="Text 14"/>
          <p:cNvSpPr/>
          <p:nvPr/>
        </p:nvSpPr>
        <p:spPr>
          <a:xfrm>
            <a:off x="8686800" y="1947672"/>
            <a:ext cx="2514600" cy="5943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21</a:t>
            </a:r>
            <a:endParaRPr lang="en-US" sz="2400" dirty="0"/>
          </a:p>
        </p:txBody>
      </p:sp>
      <p:sp>
        <p:nvSpPr>
          <p:cNvPr id="17" name="Text 15"/>
          <p:cNvSpPr/>
          <p:nvPr/>
        </p:nvSpPr>
        <p:spPr>
          <a:xfrm>
            <a:off x="8686800" y="2606040"/>
            <a:ext cx="2514600" cy="365760"/>
          </a:xfrm>
          <a:prstGeom prst="rect">
            <a:avLst/>
          </a:prstGeom>
          <a:noFill/>
          <a:ln/>
        </p:spPr>
        <p:txBody>
          <a:bodyPr wrap="square" lIns="0" tIns="0" rIns="0" bIns="0" rtlCol="0" anchor="ctr"/>
          <a:lstStyle/>
          <a:p>
            <a:pPr algn="ctr" indent="0" marL="0">
              <a:buNone/>
            </a:pPr>
            <a:r>
              <a:rPr lang="en-US" sz="1000" spc="50" kern="0" dirty="0">
                <a:solidFill>
                  <a:srgbClr val="FFFFFF"/>
                </a:solidFill>
                <a:latin typeface="Calibri" pitchFamily="34" charset="0"/>
                <a:ea typeface="Calibri" pitchFamily="34" charset="-122"/>
                <a:cs typeface="Calibri" pitchFamily="34" charset="-120"/>
              </a:rPr>
              <a:t>FINAL MASTER COLUMNS</a:t>
            </a:r>
            <a:endParaRPr lang="en-US" sz="1000" dirty="0"/>
          </a:p>
        </p:txBody>
      </p:sp>
      <p:sp>
        <p:nvSpPr>
          <p:cNvPr id="18" name="Text 16"/>
          <p:cNvSpPr/>
          <p:nvPr/>
        </p:nvSpPr>
        <p:spPr>
          <a:xfrm>
            <a:off x="457200" y="3337560"/>
            <a:ext cx="5212080" cy="320040"/>
          </a:xfrm>
          <a:prstGeom prst="rect">
            <a:avLst/>
          </a:prstGeom>
          <a:noFill/>
          <a:ln/>
        </p:spPr>
        <p:txBody>
          <a:bodyPr wrap="square" lIns="0" tIns="0" rIns="0" bIns="0" rtlCol="0" anchor="ctr"/>
          <a:lstStyle/>
          <a:p>
            <a:pPr indent="0" marL="0">
              <a:buNone/>
            </a:pPr>
            <a:r>
              <a:rPr lang="en-US" sz="1300" b="1" spc="100" kern="0" dirty="0">
                <a:solidFill>
                  <a:srgbClr val="C8102E"/>
                </a:solidFill>
                <a:latin typeface="Calibri" pitchFamily="34" charset="0"/>
                <a:ea typeface="Calibri" pitchFamily="34" charset="-122"/>
                <a:cs typeface="Calibri" pitchFamily="34" charset="-120"/>
              </a:rPr>
              <a:t>NEW FEATURES ENGINEERED</a:t>
            </a:r>
            <a:endParaRPr lang="en-US" sz="1300" dirty="0"/>
          </a:p>
        </p:txBody>
      </p:sp>
      <p:sp>
        <p:nvSpPr>
          <p:cNvPr id="19" name="Text 17"/>
          <p:cNvSpPr/>
          <p:nvPr/>
        </p:nvSpPr>
        <p:spPr>
          <a:xfrm>
            <a:off x="457200" y="3703320"/>
            <a:ext cx="5394960" cy="365760"/>
          </a:xfrm>
          <a:prstGeom prst="rect">
            <a:avLst/>
          </a:prstGeom>
          <a:noFill/>
          <a:ln/>
        </p:spPr>
        <p:txBody>
          <a:bodyPr wrap="square" lIns="0" tIns="0" rIns="0" bIns="0" rtlCol="0" anchor="ctr"/>
          <a:lstStyle/>
          <a:p>
            <a:pPr indent="0" marL="0">
              <a:buNone/>
            </a:pPr>
            <a:r>
              <a:rPr lang="en-US" sz="1250" b="1" dirty="0">
                <a:solidFill>
                  <a:srgbClr val="111111"/>
                </a:solidFill>
                <a:latin typeface="Courier New" pitchFamily="34" charset="0"/>
                <a:ea typeface="Courier New" pitchFamily="34" charset="-122"/>
                <a:cs typeface="Courier New" pitchFamily="34" charset="-120"/>
              </a:rPr>
              <a:t>winner</a:t>
            </a:r>
            <a:pPr indent="0" marL="0">
              <a:buNone/>
            </a:pPr>
            <a:r>
              <a:rPr lang="en-US" sz="1250" dirty="0">
                <a:solidFill>
                  <a:srgbClr val="6B6B70"/>
                </a:solidFill>
                <a:latin typeface="Calibri" pitchFamily="34" charset="0"/>
                <a:ea typeface="Calibri" pitchFamily="34" charset="-122"/>
                <a:cs typeface="Calibri" pitchFamily="34" charset="-120"/>
              </a:rPr>
              <a:t>  —  Flags the race winner (P1 finish)</a:t>
            </a:r>
            <a:endParaRPr lang="en-US" sz="1250" dirty="0"/>
          </a:p>
        </p:txBody>
      </p:sp>
      <p:sp>
        <p:nvSpPr>
          <p:cNvPr id="20" name="Text 18"/>
          <p:cNvSpPr/>
          <p:nvPr/>
        </p:nvSpPr>
        <p:spPr>
          <a:xfrm>
            <a:off x="457200" y="4114800"/>
            <a:ext cx="5394960" cy="365760"/>
          </a:xfrm>
          <a:prstGeom prst="rect">
            <a:avLst/>
          </a:prstGeom>
          <a:noFill/>
          <a:ln/>
        </p:spPr>
        <p:txBody>
          <a:bodyPr wrap="square" lIns="0" tIns="0" rIns="0" bIns="0" rtlCol="0" anchor="ctr"/>
          <a:lstStyle/>
          <a:p>
            <a:pPr indent="0" marL="0">
              <a:buNone/>
            </a:pPr>
            <a:r>
              <a:rPr lang="en-US" sz="1250" b="1" dirty="0">
                <a:solidFill>
                  <a:srgbClr val="111111"/>
                </a:solidFill>
                <a:latin typeface="Courier New" pitchFamily="34" charset="0"/>
                <a:ea typeface="Courier New" pitchFamily="34" charset="-122"/>
                <a:cs typeface="Courier New" pitchFamily="34" charset="-120"/>
              </a:rPr>
              <a:t>podium</a:t>
            </a:r>
            <a:pPr indent="0" marL="0">
              <a:buNone/>
            </a:pPr>
            <a:r>
              <a:rPr lang="en-US" sz="1250" dirty="0">
                <a:solidFill>
                  <a:srgbClr val="6B6B70"/>
                </a:solidFill>
                <a:latin typeface="Calibri" pitchFamily="34" charset="0"/>
                <a:ea typeface="Calibri" pitchFamily="34" charset="-122"/>
                <a:cs typeface="Calibri" pitchFamily="34" charset="-120"/>
              </a:rPr>
              <a:t>  —  Flags top-three finishes</a:t>
            </a:r>
            <a:endParaRPr lang="en-US" sz="1250" dirty="0"/>
          </a:p>
        </p:txBody>
      </p:sp>
      <p:sp>
        <p:nvSpPr>
          <p:cNvPr id="21" name="Text 19"/>
          <p:cNvSpPr/>
          <p:nvPr/>
        </p:nvSpPr>
        <p:spPr>
          <a:xfrm>
            <a:off x="457200" y="4526280"/>
            <a:ext cx="5394960" cy="365760"/>
          </a:xfrm>
          <a:prstGeom prst="rect">
            <a:avLst/>
          </a:prstGeom>
          <a:noFill/>
          <a:ln/>
        </p:spPr>
        <p:txBody>
          <a:bodyPr wrap="square" lIns="0" tIns="0" rIns="0" bIns="0" rtlCol="0" anchor="ctr"/>
          <a:lstStyle/>
          <a:p>
            <a:pPr indent="0" marL="0">
              <a:buNone/>
            </a:pPr>
            <a:r>
              <a:rPr lang="en-US" sz="1250" b="1" dirty="0">
                <a:solidFill>
                  <a:srgbClr val="111111"/>
                </a:solidFill>
                <a:latin typeface="Courier New" pitchFamily="34" charset="0"/>
                <a:ea typeface="Courier New" pitchFamily="34" charset="-122"/>
                <a:cs typeface="Courier New" pitchFamily="34" charset="-120"/>
              </a:rPr>
              <a:t>pole_position</a:t>
            </a:r>
            <a:pPr indent="0" marL="0">
              <a:buNone/>
            </a:pPr>
            <a:r>
              <a:rPr lang="en-US" sz="1250" dirty="0">
                <a:solidFill>
                  <a:srgbClr val="6B6B70"/>
                </a:solidFill>
                <a:latin typeface="Calibri" pitchFamily="34" charset="0"/>
                <a:ea typeface="Calibri" pitchFamily="34" charset="-122"/>
                <a:cs typeface="Calibri" pitchFamily="34" charset="-120"/>
              </a:rPr>
              <a:t>  —  Flags drivers who started P1</a:t>
            </a:r>
            <a:endParaRPr lang="en-US" sz="1250" dirty="0"/>
          </a:p>
        </p:txBody>
      </p:sp>
      <p:sp>
        <p:nvSpPr>
          <p:cNvPr id="22" name="Text 20"/>
          <p:cNvSpPr/>
          <p:nvPr/>
        </p:nvSpPr>
        <p:spPr>
          <a:xfrm>
            <a:off x="457200" y="4937760"/>
            <a:ext cx="5394960" cy="365760"/>
          </a:xfrm>
          <a:prstGeom prst="rect">
            <a:avLst/>
          </a:prstGeom>
          <a:noFill/>
          <a:ln/>
        </p:spPr>
        <p:txBody>
          <a:bodyPr wrap="square" lIns="0" tIns="0" rIns="0" bIns="0" rtlCol="0" anchor="ctr"/>
          <a:lstStyle/>
          <a:p>
            <a:pPr indent="0" marL="0">
              <a:buNone/>
            </a:pPr>
            <a:r>
              <a:rPr lang="en-US" sz="1250" b="1" dirty="0">
                <a:solidFill>
                  <a:srgbClr val="111111"/>
                </a:solidFill>
                <a:latin typeface="Courier New" pitchFamily="34" charset="0"/>
                <a:ea typeface="Courier New" pitchFamily="34" charset="-122"/>
                <a:cs typeface="Courier New" pitchFamily="34" charset="-120"/>
              </a:rPr>
              <a:t>positions_gained</a:t>
            </a:r>
            <a:pPr indent="0" marL="0">
              <a:buNone/>
            </a:pPr>
            <a:r>
              <a:rPr lang="en-US" sz="1250" dirty="0">
                <a:solidFill>
                  <a:srgbClr val="6B6B70"/>
                </a:solidFill>
                <a:latin typeface="Calibri" pitchFamily="34" charset="0"/>
                <a:ea typeface="Calibri" pitchFamily="34" charset="-122"/>
                <a:cs typeface="Calibri" pitchFamily="34" charset="-120"/>
              </a:rPr>
              <a:t>  —  Grid position minus finishing position</a:t>
            </a:r>
            <a:endParaRPr lang="en-US" sz="1250" dirty="0"/>
          </a:p>
        </p:txBody>
      </p:sp>
      <p:sp>
        <p:nvSpPr>
          <p:cNvPr id="23" name="Text 21"/>
          <p:cNvSpPr/>
          <p:nvPr/>
        </p:nvSpPr>
        <p:spPr>
          <a:xfrm>
            <a:off x="6172200" y="3337560"/>
            <a:ext cx="5577840" cy="320040"/>
          </a:xfrm>
          <a:prstGeom prst="rect">
            <a:avLst/>
          </a:prstGeom>
          <a:noFill/>
          <a:ln/>
        </p:spPr>
        <p:txBody>
          <a:bodyPr wrap="square" lIns="0" tIns="0" rIns="0" bIns="0" rtlCol="0" anchor="ctr"/>
          <a:lstStyle/>
          <a:p>
            <a:pPr indent="0" marL="0">
              <a:buNone/>
            </a:pPr>
            <a:r>
              <a:rPr lang="en-US" sz="1300" b="1" spc="100" kern="0" dirty="0">
                <a:solidFill>
                  <a:srgbClr val="C8102E"/>
                </a:solidFill>
                <a:latin typeface="Calibri" pitchFamily="34" charset="0"/>
                <a:ea typeface="Calibri" pitchFamily="34" charset="-122"/>
                <a:cs typeface="Calibri" pitchFamily="34" charset="-120"/>
              </a:rPr>
              <a:t>DATA QUALITY OBSERVATIONS</a:t>
            </a:r>
            <a:endParaRPr lang="en-US" sz="1300" dirty="0"/>
          </a:p>
        </p:txBody>
      </p:sp>
      <p:sp>
        <p:nvSpPr>
          <p:cNvPr id="24" name="Text 22"/>
          <p:cNvSpPr/>
          <p:nvPr/>
        </p:nvSpPr>
        <p:spPr>
          <a:xfrm>
            <a:off x="6172200" y="3657600"/>
            <a:ext cx="5577840" cy="228600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11111"/>
                </a:solidFill>
                <a:latin typeface="Calibri" pitchFamily="34" charset="0"/>
                <a:ea typeface="Calibri" pitchFamily="34" charset="-122"/>
                <a:cs typeface="Calibri" pitchFamily="34" charset="-120"/>
              </a:rPr>
              <a:t>No duplicates or missing values in races, results, drivers, constructors, or circuits</a:t>
            </a:r>
            <a:endParaRPr lang="en-US" sz="1250" dirty="0"/>
          </a:p>
          <a:p>
            <a:pPr marL="342900" indent="-342900">
              <a:spcAft>
                <a:spcPts val="1000"/>
              </a:spcAft>
              <a:buSzPct val="100000"/>
              <a:buChar char="•"/>
            </a:pPr>
            <a:r>
              <a:rPr lang="en-US" sz="1250" dirty="0">
                <a:solidFill>
                  <a:srgbClr val="111111"/>
                </a:solidFill>
                <a:latin typeface="Calibri" pitchFamily="34" charset="0"/>
                <a:ea typeface="Calibri" pitchFamily="34" charset="-122"/>
                <a:cs typeface="Calibri" pitchFamily="34" charset="-120"/>
              </a:rPr>
              <a:t>Qualifying nulls in Q2/Q3 kept — they mark drivers eliminated early</a:t>
            </a:r>
            <a:endParaRPr lang="en-US" sz="1250" dirty="0"/>
          </a:p>
          <a:p>
            <a:pPr marL="342900" indent="-342900">
              <a:spcAft>
                <a:spcPts val="1000"/>
              </a:spcAft>
              <a:buSzPct val="100000"/>
              <a:buChar char="•"/>
            </a:pPr>
            <a:r>
              <a:rPr lang="en-US" sz="1250" dirty="0">
                <a:solidFill>
                  <a:srgbClr val="111111"/>
                </a:solidFill>
                <a:latin typeface="Calibri" pitchFamily="34" charset="0"/>
                <a:ea typeface="Calibri" pitchFamily="34" charset="-122"/>
                <a:cs typeface="Calibri" pitchFamily="34" charset="-120"/>
              </a:rPr>
              <a:t>fastestLapSpeed nulls retained — unavailable for older/retired entries</a:t>
            </a:r>
            <a:endParaRPr lang="en-US" sz="1250" dirty="0"/>
          </a:p>
          <a:p>
            <a:pPr marL="342900" indent="-342900">
              <a:spcAft>
                <a:spcPts val="1000"/>
              </a:spcAft>
              <a:buSzPct val="100000"/>
              <a:buChar char="•"/>
            </a:pPr>
            <a:r>
              <a:rPr lang="en-US" sz="1250" dirty="0">
                <a:solidFill>
                  <a:srgbClr val="111111"/>
                </a:solidFill>
                <a:latin typeface="Calibri" pitchFamily="34" charset="0"/>
                <a:ea typeface="Calibri" pitchFamily="34" charset="-122"/>
                <a:cs typeface="Calibri" pitchFamily="34" charset="-120"/>
              </a:rPr>
              <a:t>Date column converted to datetime for time-based trend analysis</a:t>
            </a:r>
            <a:endParaRPr lang="en-US" sz="1250" dirty="0"/>
          </a:p>
        </p:txBody>
      </p:sp>
      <p:sp>
        <p:nvSpPr>
          <p:cNvPr id="25" name="Text 23"/>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6B70"/>
                </a:solidFill>
                <a:latin typeface="Calibri" pitchFamily="34" charset="0"/>
                <a:ea typeface="Calibri" pitchFamily="34" charset="-122"/>
                <a:cs typeface="Calibri" pitchFamily="34" charset="-120"/>
              </a:rPr>
              <a:t>F1 Race Performance Analytics  •  Power BI Project</a:t>
            </a:r>
            <a:endParaRPr lang="en-US" sz="900" dirty="0"/>
          </a:p>
        </p:txBody>
      </p:sp>
      <p:sp>
        <p:nvSpPr>
          <p:cNvPr id="26" name="Text 2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B1F"/>
        </a:solidFill>
      </p:bgPr>
    </p:bg>
    <p:spTree>
      <p:nvGrpSpPr>
        <p:cNvPr id="1" name=""/>
        <p:cNvGrpSpPr/>
        <p:nvPr/>
      </p:nvGrpSpPr>
      <p:grpSpPr>
        <a:xfrm>
          <a:off x="0" y="0"/>
          <a:ext cx="0" cy="0"/>
          <a:chOff x="0" y="0"/>
          <a:chExt cx="0" cy="0"/>
        </a:xfrm>
      </p:grpSpPr>
      <p:sp>
        <p:nvSpPr>
          <p:cNvPr id="2" name="Text 0"/>
          <p:cNvSpPr/>
          <p:nvPr/>
        </p:nvSpPr>
        <p:spPr>
          <a:xfrm>
            <a:off x="457200" y="365760"/>
            <a:ext cx="548640" cy="457200"/>
          </a:xfrm>
          <a:prstGeom prst="rect">
            <a:avLst/>
          </a:prstGeom>
          <a:noFill/>
          <a:ln/>
        </p:spPr>
        <p:txBody>
          <a:bodyPr wrap="square" lIns="0" tIns="0" rIns="0" bIns="0" rtlCol="0" anchor="ctr"/>
          <a:lstStyle/>
          <a:p>
            <a:pPr indent="0" marL="0">
              <a:buNone/>
            </a:pPr>
            <a:r>
              <a:rPr lang="en-US" sz="1600" b="1" dirty="0">
                <a:solidFill>
                  <a:srgbClr val="C8102E"/>
                </a:solidFill>
                <a:latin typeface="Cambria" pitchFamily="34" charset="0"/>
                <a:ea typeface="Cambria" pitchFamily="34" charset="-122"/>
                <a:cs typeface="Cambria" pitchFamily="34" charset="-120"/>
              </a:rPr>
              <a:t>05</a:t>
            </a:r>
            <a:endParaRPr lang="en-US" sz="1600" dirty="0"/>
          </a:p>
        </p:txBody>
      </p:sp>
      <p:sp>
        <p:nvSpPr>
          <p:cNvPr id="3" name="Text 1"/>
          <p:cNvSpPr/>
          <p:nvPr/>
        </p:nvSpPr>
        <p:spPr>
          <a:xfrm>
            <a:off x="1005840" y="384048"/>
            <a:ext cx="5486400" cy="411480"/>
          </a:xfrm>
          <a:prstGeom prst="rect">
            <a:avLst/>
          </a:prstGeom>
          <a:noFill/>
          <a:ln/>
        </p:spPr>
        <p:txBody>
          <a:bodyPr wrap="square" lIns="0" tIns="0" rIns="0" bIns="0" rtlCol="0" anchor="ctr"/>
          <a:lstStyle/>
          <a:p>
            <a:pPr indent="0" marL="0">
              <a:buNone/>
            </a:pPr>
            <a:r>
              <a:rPr lang="en-US" sz="1200" b="1" spc="200" kern="0" dirty="0">
                <a:solidFill>
                  <a:srgbClr val="E4E4E7"/>
                </a:solidFill>
                <a:latin typeface="Calibri" pitchFamily="34" charset="0"/>
                <a:ea typeface="Calibri" pitchFamily="34" charset="-122"/>
                <a:cs typeface="Calibri" pitchFamily="34" charset="-120"/>
              </a:rPr>
              <a:t>POWER BI DASHBOARD</a:t>
            </a:r>
            <a:endParaRPr lang="en-US" sz="1200" dirty="0"/>
          </a:p>
        </p:txBody>
      </p:sp>
      <p:sp>
        <p:nvSpPr>
          <p:cNvPr id="4" name="Text 2"/>
          <p:cNvSpPr/>
          <p:nvPr/>
        </p:nvSpPr>
        <p:spPr>
          <a:xfrm>
            <a:off x="457200" y="777240"/>
            <a:ext cx="1005840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F1 Race Performance Analytics Dashboard</a:t>
            </a:r>
            <a:endParaRPr lang="en-US" sz="2400" dirty="0"/>
          </a:p>
        </p:txBody>
      </p:sp>
      <p:pic>
        <p:nvPicPr>
          <p:cNvPr id="5" name="Image 0" descr="/mnt/user-data/uploads/Screenshot_2026-06-30_at_10_55_47.png">    </p:cNvPr>
          <p:cNvPicPr>
            <a:picLocks noChangeAspect="1"/>
          </p:cNvPicPr>
          <p:nvPr/>
        </p:nvPicPr>
        <p:blipFill>
          <a:blip r:embed="rId1"/>
          <a:stretch>
            <a:fillRect/>
          </a:stretch>
        </p:blipFill>
        <p:spPr>
          <a:xfrm>
            <a:off x="1709243" y="1417320"/>
            <a:ext cx="8770466" cy="4846320"/>
          </a:xfrm>
          <a:prstGeom prst="rect">
            <a:avLst/>
          </a:prstGeom>
        </p:spPr>
      </p:pic>
      <p:sp>
        <p:nvSpPr>
          <p:cNvPr id="6" name="Text 3"/>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6B70"/>
                </a:solidFill>
                <a:latin typeface="Calibri" pitchFamily="34" charset="0"/>
                <a:ea typeface="Calibri" pitchFamily="34" charset="-122"/>
                <a:cs typeface="Calibri" pitchFamily="34" charset="-120"/>
              </a:rPr>
              <a:t>F1 Race Performance Analytics  •  Power BI Project</a:t>
            </a:r>
            <a:endParaRPr lang="en-US" sz="900" dirty="0"/>
          </a:p>
        </p:txBody>
      </p:sp>
      <p:sp>
        <p:nvSpPr>
          <p:cNvPr id="7" name="Text 4"/>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C8102E"/>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06</a:t>
            </a:r>
            <a:endParaRPr lang="en-US" sz="2000" dirty="0"/>
          </a:p>
        </p:txBody>
      </p:sp>
      <p:sp>
        <p:nvSpPr>
          <p:cNvPr id="4" name="Text 2"/>
          <p:cNvSpPr/>
          <p:nvPr/>
        </p:nvSpPr>
        <p:spPr>
          <a:xfrm>
            <a:off x="1097280" y="457200"/>
            <a:ext cx="7315200" cy="457200"/>
          </a:xfrm>
          <a:prstGeom prst="rect">
            <a:avLst/>
          </a:prstGeom>
          <a:noFill/>
          <a:ln/>
        </p:spPr>
        <p:txBody>
          <a:bodyPr wrap="square" lIns="0" tIns="0" rIns="0" bIns="0" rtlCol="0" anchor="ctr"/>
          <a:lstStyle/>
          <a:p>
            <a:pPr indent="0" marL="0">
              <a:buNone/>
            </a:pPr>
            <a:r>
              <a:rPr lang="en-US" sz="1300" b="1" spc="200" kern="0" dirty="0">
                <a:solidFill>
                  <a:srgbClr val="6B6B70"/>
                </a:solidFill>
                <a:latin typeface="Calibri" pitchFamily="34" charset="0"/>
                <a:ea typeface="Calibri" pitchFamily="34" charset="-122"/>
                <a:cs typeface="Calibri" pitchFamily="34" charset="-120"/>
              </a:rPr>
              <a:t>KEY VISUALS</a:t>
            </a:r>
            <a:endParaRPr lang="en-US" sz="1300" dirty="0"/>
          </a:p>
        </p:txBody>
      </p:sp>
      <p:sp>
        <p:nvSpPr>
          <p:cNvPr id="5" name="Text 3"/>
          <p:cNvSpPr/>
          <p:nvPr/>
        </p:nvSpPr>
        <p:spPr>
          <a:xfrm>
            <a:off x="457200" y="960120"/>
            <a:ext cx="10789920" cy="731520"/>
          </a:xfrm>
          <a:prstGeom prst="rect">
            <a:avLst/>
          </a:prstGeom>
          <a:noFill/>
          <a:ln/>
        </p:spPr>
        <p:txBody>
          <a:bodyPr wrap="square" lIns="0" tIns="0" rIns="0" bIns="0" rtlCol="0" anchor="ctr"/>
          <a:lstStyle/>
          <a:p>
            <a:pPr indent="0" marL="0">
              <a:buNone/>
            </a:pPr>
            <a:r>
              <a:rPr lang="en-US" sz="3000" b="1" dirty="0">
                <a:solidFill>
                  <a:srgbClr val="111111"/>
                </a:solidFill>
                <a:latin typeface="Cambria" pitchFamily="34" charset="0"/>
                <a:ea typeface="Cambria" pitchFamily="34" charset="-122"/>
                <a:cs typeface="Cambria" pitchFamily="34" charset="-120"/>
              </a:rPr>
              <a:t>Top Drivers by Wins</a:t>
            </a:r>
            <a:endParaRPr lang="en-US" sz="3000" dirty="0"/>
          </a:p>
        </p:txBody>
      </p:sp>
      <p:graphicFrame>
        <p:nvGraphicFramePr>
          <p:cNvPr id="6" name="Chart 0" descr=""/>
          <p:cNvGraphicFramePr/>
          <p:nvPr/>
        </p:nvGraphicFramePr>
        <p:xfrm>
          <a:off x="457200" y="182880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680960" y="1828800"/>
            <a:ext cx="4069080" cy="4206240"/>
          </a:xfrm>
          <a:prstGeom prst="roundRect">
            <a:avLst>
              <a:gd name="adj" fmla="val 1798"/>
            </a:avLst>
          </a:prstGeom>
          <a:solidFill>
            <a:srgbClr val="111111"/>
          </a:solidFill>
          <a:ln/>
          <a:effectLst>
            <a:outerShdw sx="100000" sy="100000" kx="0" ky="0" algn="bl" rotWithShape="0" blurRad="101600" dist="38100" dir="5400000">
              <a:srgbClr val="000000">
                <a:alpha val="18000"/>
              </a:srgbClr>
            </a:outerShdw>
          </a:effectLst>
        </p:spPr>
      </p:sp>
      <p:sp>
        <p:nvSpPr>
          <p:cNvPr id="8" name="Text 5"/>
          <p:cNvSpPr/>
          <p:nvPr/>
        </p:nvSpPr>
        <p:spPr>
          <a:xfrm>
            <a:off x="7955280" y="2057400"/>
            <a:ext cx="3520440" cy="822960"/>
          </a:xfrm>
          <a:prstGeom prst="rect">
            <a:avLst/>
          </a:prstGeom>
          <a:noFill/>
          <a:ln/>
        </p:spPr>
        <p:txBody>
          <a:bodyPr wrap="square" lIns="0" tIns="0" rIns="0" bIns="0" rtlCol="0" anchor="ctr"/>
          <a:lstStyle/>
          <a:p>
            <a:pPr indent="0" marL="0">
              <a:buNone/>
            </a:pPr>
            <a:r>
              <a:rPr lang="en-US" sz="4800" b="1" dirty="0">
                <a:solidFill>
                  <a:srgbClr val="C8102E"/>
                </a:solidFill>
                <a:latin typeface="Cambria" pitchFamily="34" charset="0"/>
                <a:ea typeface="Cambria" pitchFamily="34" charset="-122"/>
                <a:cs typeface="Cambria" pitchFamily="34" charset="-120"/>
              </a:rPr>
              <a:t>105</a:t>
            </a:r>
            <a:endParaRPr lang="en-US" sz="4800" dirty="0"/>
          </a:p>
        </p:txBody>
      </p:sp>
      <p:sp>
        <p:nvSpPr>
          <p:cNvPr id="9" name="Text 6"/>
          <p:cNvSpPr/>
          <p:nvPr/>
        </p:nvSpPr>
        <p:spPr>
          <a:xfrm>
            <a:off x="7955280" y="2743200"/>
            <a:ext cx="3520440" cy="365760"/>
          </a:xfrm>
          <a:prstGeom prst="rect">
            <a:avLst/>
          </a:prstGeom>
          <a:noFill/>
          <a:ln/>
        </p:spPr>
        <p:txBody>
          <a:bodyPr wrap="square" lIns="0" tIns="0" rIns="0" bIns="0" rtlCol="0" anchor="ctr"/>
          <a:lstStyle/>
          <a:p>
            <a:pPr indent="0" marL="0">
              <a:buNone/>
            </a:pPr>
            <a:r>
              <a:rPr lang="en-US" sz="1100" b="1" spc="100" kern="0" dirty="0">
                <a:solidFill>
                  <a:srgbClr val="D4AF37"/>
                </a:solidFill>
                <a:latin typeface="Calibri" pitchFamily="34" charset="0"/>
                <a:ea typeface="Calibri" pitchFamily="34" charset="-122"/>
                <a:cs typeface="Calibri" pitchFamily="34" charset="-120"/>
              </a:rPr>
              <a:t>CAREER WINS — LEWIS HAMILTON</a:t>
            </a:r>
            <a:endParaRPr lang="en-US" sz="1100" dirty="0"/>
          </a:p>
        </p:txBody>
      </p:sp>
      <p:sp>
        <p:nvSpPr>
          <p:cNvPr id="10" name="Text 7"/>
          <p:cNvSpPr/>
          <p:nvPr/>
        </p:nvSpPr>
        <p:spPr>
          <a:xfrm>
            <a:off x="7955280" y="3246120"/>
            <a:ext cx="3520440" cy="1554480"/>
          </a:xfrm>
          <a:prstGeom prst="rect">
            <a:avLst/>
          </a:prstGeom>
          <a:noFill/>
          <a:ln/>
        </p:spPr>
        <p:txBody>
          <a:bodyPr wrap="square" lIns="0" tIns="0" rIns="0" bIns="0" rtlCol="0" anchor="ctr"/>
          <a:lstStyle/>
          <a:p>
            <a:pPr indent="0" marL="0">
              <a:lnSpc>
                <a:spcPct val="120000"/>
              </a:lnSpc>
              <a:buNone/>
            </a:pPr>
            <a:r>
              <a:rPr lang="en-US" sz="1300" dirty="0">
                <a:solidFill>
                  <a:srgbClr val="FFFFFF"/>
                </a:solidFill>
                <a:latin typeface="Calibri" pitchFamily="34" charset="0"/>
                <a:ea typeface="Calibri" pitchFamily="34" charset="-122"/>
                <a:cs typeface="Calibri" pitchFamily="34" charset="-120"/>
              </a:rPr>
              <a:t>Lewis Hamilton leads all-time wins, ahead of Michael Schumacher (91) and Max Verstappen (63) — sustained dominance across multiple eras of the sport.</a:t>
            </a:r>
            <a:endParaRPr lang="en-US" sz="1300" dirty="0"/>
          </a:p>
        </p:txBody>
      </p:sp>
      <p:sp>
        <p:nvSpPr>
          <p:cNvPr id="11" name="Shape 8"/>
          <p:cNvSpPr/>
          <p:nvPr/>
        </p:nvSpPr>
        <p:spPr>
          <a:xfrm>
            <a:off x="7955280" y="4937760"/>
            <a:ext cx="3520440" cy="0"/>
          </a:xfrm>
          <a:prstGeom prst="line">
            <a:avLst/>
          </a:prstGeom>
          <a:noFill/>
          <a:ln w="9525">
            <a:solidFill>
              <a:srgbClr val="6B6B70"/>
            </a:solidFill>
            <a:prstDash val="solid"/>
          </a:ln>
        </p:spPr>
      </p:sp>
      <p:sp>
        <p:nvSpPr>
          <p:cNvPr id="12" name="Text 9"/>
          <p:cNvSpPr/>
          <p:nvPr/>
        </p:nvSpPr>
        <p:spPr>
          <a:xfrm>
            <a:off x="7955280" y="5074920"/>
            <a:ext cx="3520440" cy="731520"/>
          </a:xfrm>
          <a:prstGeom prst="rect">
            <a:avLst/>
          </a:prstGeom>
          <a:noFill/>
          <a:ln/>
        </p:spPr>
        <p:txBody>
          <a:bodyPr wrap="square" lIns="0" tIns="0" rIns="0" bIns="0" rtlCol="0" anchor="ctr"/>
          <a:lstStyle/>
          <a:p>
            <a:pPr indent="0" marL="0">
              <a:buNone/>
            </a:pPr>
            <a:r>
              <a:rPr lang="en-US" sz="1000" i="1" dirty="0">
                <a:solidFill>
                  <a:srgbClr val="E4E4E7"/>
                </a:solidFill>
                <a:latin typeface="Calibri" pitchFamily="34" charset="0"/>
                <a:ea typeface="Calibri" pitchFamily="34" charset="-122"/>
                <a:cs typeface="Calibri" pitchFamily="34" charset="-120"/>
              </a:rPr>
              <a:t>Source: master_f1_dataset.csv — results grouped by driver, filtered to race wins.</a:t>
            </a:r>
            <a:endParaRPr lang="en-US" sz="1000" dirty="0"/>
          </a:p>
        </p:txBody>
      </p:sp>
      <p:sp>
        <p:nvSpPr>
          <p:cNvPr id="13" name="Text 10"/>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6B70"/>
                </a:solidFill>
                <a:latin typeface="Calibri" pitchFamily="34" charset="0"/>
                <a:ea typeface="Calibri" pitchFamily="34" charset="-122"/>
                <a:cs typeface="Calibri" pitchFamily="34" charset="-120"/>
              </a:rPr>
              <a:t>F1 Race Performance Analytics  •  Power BI Project</a:t>
            </a:r>
            <a:endParaRPr lang="en-US" sz="900" dirty="0"/>
          </a:p>
        </p:txBody>
      </p:sp>
      <p:sp>
        <p:nvSpPr>
          <p:cNvPr id="14" name="Text 11"/>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C8102E"/>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06</a:t>
            </a:r>
            <a:endParaRPr lang="en-US" sz="2000" dirty="0"/>
          </a:p>
        </p:txBody>
      </p:sp>
      <p:sp>
        <p:nvSpPr>
          <p:cNvPr id="4" name="Text 2"/>
          <p:cNvSpPr/>
          <p:nvPr/>
        </p:nvSpPr>
        <p:spPr>
          <a:xfrm>
            <a:off x="1097280" y="457200"/>
            <a:ext cx="7315200" cy="457200"/>
          </a:xfrm>
          <a:prstGeom prst="rect">
            <a:avLst/>
          </a:prstGeom>
          <a:noFill/>
          <a:ln/>
        </p:spPr>
        <p:txBody>
          <a:bodyPr wrap="square" lIns="0" tIns="0" rIns="0" bIns="0" rtlCol="0" anchor="ctr"/>
          <a:lstStyle/>
          <a:p>
            <a:pPr indent="0" marL="0">
              <a:buNone/>
            </a:pPr>
            <a:r>
              <a:rPr lang="en-US" sz="1300" b="1" spc="200" kern="0" dirty="0">
                <a:solidFill>
                  <a:srgbClr val="6B6B70"/>
                </a:solidFill>
                <a:latin typeface="Calibri" pitchFamily="34" charset="0"/>
                <a:ea typeface="Calibri" pitchFamily="34" charset="-122"/>
                <a:cs typeface="Calibri" pitchFamily="34" charset="-120"/>
              </a:rPr>
              <a:t>KEY VISUALS</a:t>
            </a:r>
            <a:endParaRPr lang="en-US" sz="1300" dirty="0"/>
          </a:p>
        </p:txBody>
      </p:sp>
      <p:sp>
        <p:nvSpPr>
          <p:cNvPr id="5" name="Text 3"/>
          <p:cNvSpPr/>
          <p:nvPr/>
        </p:nvSpPr>
        <p:spPr>
          <a:xfrm>
            <a:off x="457200" y="960120"/>
            <a:ext cx="10789920" cy="731520"/>
          </a:xfrm>
          <a:prstGeom prst="rect">
            <a:avLst/>
          </a:prstGeom>
          <a:noFill/>
          <a:ln/>
        </p:spPr>
        <p:txBody>
          <a:bodyPr wrap="square" lIns="0" tIns="0" rIns="0" bIns="0" rtlCol="0" anchor="ctr"/>
          <a:lstStyle/>
          <a:p>
            <a:pPr indent="0" marL="0">
              <a:buNone/>
            </a:pPr>
            <a:r>
              <a:rPr lang="en-US" sz="3000" b="1" dirty="0">
                <a:solidFill>
                  <a:srgbClr val="111111"/>
                </a:solidFill>
                <a:latin typeface="Cambria" pitchFamily="34" charset="0"/>
                <a:ea typeface="Cambria" pitchFamily="34" charset="-122"/>
                <a:cs typeface="Cambria" pitchFamily="34" charset="-120"/>
              </a:rPr>
              <a:t>Qualifying Pace vs. Race Outcome</a:t>
            </a:r>
            <a:endParaRPr lang="en-US" sz="3000" dirty="0"/>
          </a:p>
        </p:txBody>
      </p:sp>
      <p:sp>
        <p:nvSpPr>
          <p:cNvPr id="6" name="Text 4"/>
          <p:cNvSpPr/>
          <p:nvPr/>
        </p:nvSpPr>
        <p:spPr>
          <a:xfrm>
            <a:off x="457200" y="1828800"/>
            <a:ext cx="5120640" cy="320040"/>
          </a:xfrm>
          <a:prstGeom prst="rect">
            <a:avLst/>
          </a:prstGeom>
          <a:noFill/>
          <a:ln/>
        </p:spPr>
        <p:txBody>
          <a:bodyPr wrap="square" lIns="0" tIns="0" rIns="0" bIns="0" rtlCol="0" anchor="ctr"/>
          <a:lstStyle/>
          <a:p>
            <a:pPr indent="0" marL="0">
              <a:buNone/>
            </a:pPr>
            <a:r>
              <a:rPr lang="en-US" sz="1250" b="1" spc="100" kern="0" dirty="0">
                <a:solidFill>
                  <a:srgbClr val="C8102E"/>
                </a:solidFill>
                <a:latin typeface="Calibri" pitchFamily="34" charset="0"/>
                <a:ea typeface="Calibri" pitchFamily="34" charset="-122"/>
                <a:cs typeface="Calibri" pitchFamily="34" charset="-120"/>
              </a:rPr>
              <a:t>POLE POSITION CONVERSION RATE</a:t>
            </a:r>
            <a:endParaRPr lang="en-US" sz="1250" dirty="0"/>
          </a:p>
        </p:txBody>
      </p:sp>
      <p:graphicFrame>
        <p:nvGraphicFramePr>
          <p:cNvPr id="7" name="Chart 0" descr=""/>
          <p:cNvGraphicFramePr/>
          <p:nvPr/>
        </p:nvGraphicFramePr>
        <p:xfrm>
          <a:off x="457200" y="214884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035040" y="1828800"/>
            <a:ext cx="5715000" cy="4206240"/>
          </a:xfrm>
          <a:prstGeom prst="roundRect">
            <a:avLst>
              <a:gd name="adj" fmla="val 1739"/>
            </a:avLst>
          </a:prstGeom>
          <a:solidFill>
            <a:srgbClr val="F7F7F8"/>
          </a:solidFill>
          <a:ln/>
          <a:effectLst>
            <a:outerShdw sx="100000" sy="100000" kx="0" ky="0" algn="bl" rotWithShape="0" blurRad="101600" dist="38100" dir="5400000">
              <a:srgbClr val="000000">
                <a:alpha val="18000"/>
              </a:srgbClr>
            </a:outerShdw>
          </a:effectLst>
        </p:spPr>
      </p:sp>
      <p:sp>
        <p:nvSpPr>
          <p:cNvPr id="9" name="Text 6"/>
          <p:cNvSpPr/>
          <p:nvPr/>
        </p:nvSpPr>
        <p:spPr>
          <a:xfrm>
            <a:off x="6309360" y="2057400"/>
            <a:ext cx="5120640" cy="777240"/>
          </a:xfrm>
          <a:prstGeom prst="rect">
            <a:avLst/>
          </a:prstGeom>
          <a:noFill/>
          <a:ln/>
        </p:spPr>
        <p:txBody>
          <a:bodyPr wrap="square" lIns="0" tIns="0" rIns="0" bIns="0" rtlCol="0" anchor="ctr"/>
          <a:lstStyle/>
          <a:p>
            <a:pPr indent="0" marL="0">
              <a:buNone/>
            </a:pPr>
            <a:r>
              <a:rPr lang="en-US" sz="4400" b="1" dirty="0">
                <a:solidFill>
                  <a:srgbClr val="C8102E"/>
                </a:solidFill>
                <a:latin typeface="Cambria" pitchFamily="34" charset="0"/>
                <a:ea typeface="Cambria" pitchFamily="34" charset="-122"/>
                <a:cs typeface="Cambria" pitchFamily="34" charset="-120"/>
              </a:rPr>
              <a:t>42.3%</a:t>
            </a:r>
            <a:endParaRPr lang="en-US" sz="4400" dirty="0"/>
          </a:p>
        </p:txBody>
      </p:sp>
      <p:sp>
        <p:nvSpPr>
          <p:cNvPr id="10" name="Text 7"/>
          <p:cNvSpPr/>
          <p:nvPr/>
        </p:nvSpPr>
        <p:spPr>
          <a:xfrm>
            <a:off x="6309360" y="2743200"/>
            <a:ext cx="5120640" cy="457200"/>
          </a:xfrm>
          <a:prstGeom prst="rect">
            <a:avLst/>
          </a:prstGeom>
          <a:noFill/>
          <a:ln/>
        </p:spPr>
        <p:txBody>
          <a:bodyPr wrap="square" lIns="0" tIns="0" rIns="0" bIns="0" rtlCol="0" anchor="ctr"/>
          <a:lstStyle/>
          <a:p>
            <a:pPr indent="0" marL="0">
              <a:buNone/>
            </a:pPr>
            <a:r>
              <a:rPr lang="en-US" sz="1350" b="1" dirty="0">
                <a:solidFill>
                  <a:srgbClr val="111111"/>
                </a:solidFill>
                <a:latin typeface="Calibri" pitchFamily="34" charset="0"/>
                <a:ea typeface="Calibri" pitchFamily="34" charset="-122"/>
                <a:cs typeface="Calibri" pitchFamily="34" charset="-120"/>
              </a:rPr>
              <a:t>of pole positions convert into race wins</a:t>
            </a:r>
            <a:endParaRPr lang="en-US" sz="1350" dirty="0"/>
          </a:p>
        </p:txBody>
      </p:sp>
      <p:sp>
        <p:nvSpPr>
          <p:cNvPr id="11" name="Text 8"/>
          <p:cNvSpPr/>
          <p:nvPr/>
        </p:nvSpPr>
        <p:spPr>
          <a:xfrm>
            <a:off x="6309360" y="3337560"/>
            <a:ext cx="5120640" cy="914400"/>
          </a:xfrm>
          <a:prstGeom prst="rect">
            <a:avLst/>
          </a:prstGeom>
          <a:noFill/>
          <a:ln/>
        </p:spPr>
        <p:txBody>
          <a:bodyPr wrap="square" lIns="0" tIns="0" rIns="0" bIns="0" rtlCol="0" anchor="ctr"/>
          <a:lstStyle/>
          <a:p>
            <a:pPr indent="0" marL="0">
              <a:lnSpc>
                <a:spcPct val="115000"/>
              </a:lnSpc>
              <a:buNone/>
            </a:pPr>
            <a:r>
              <a:rPr lang="en-US" sz="1250" dirty="0">
                <a:solidFill>
                  <a:srgbClr val="6B6B70"/>
                </a:solidFill>
                <a:latin typeface="Calibri" pitchFamily="34" charset="0"/>
                <a:ea typeface="Calibri" pitchFamily="34" charset="-122"/>
                <a:cs typeface="Calibri" pitchFamily="34" charset="-120"/>
              </a:rPr>
              <a:t>Starting from pole improves the chances of winning, but does not guarantee success — race strategy, tyre management, and reliability still play crucial roles.</a:t>
            </a:r>
            <a:endParaRPr lang="en-US" sz="1250" dirty="0"/>
          </a:p>
        </p:txBody>
      </p:sp>
      <p:sp>
        <p:nvSpPr>
          <p:cNvPr id="12" name="Shape 9"/>
          <p:cNvSpPr/>
          <p:nvPr/>
        </p:nvSpPr>
        <p:spPr>
          <a:xfrm>
            <a:off x="6309360" y="4389120"/>
            <a:ext cx="5120640" cy="0"/>
          </a:xfrm>
          <a:prstGeom prst="line">
            <a:avLst/>
          </a:prstGeom>
          <a:noFill/>
          <a:ln w="12700">
            <a:solidFill>
              <a:srgbClr val="E4E4E7"/>
            </a:solidFill>
            <a:prstDash val="solid"/>
          </a:ln>
        </p:spPr>
      </p:sp>
      <p:sp>
        <p:nvSpPr>
          <p:cNvPr id="13" name="Text 10"/>
          <p:cNvSpPr/>
          <p:nvPr/>
        </p:nvSpPr>
        <p:spPr>
          <a:xfrm>
            <a:off x="6309360" y="4572000"/>
            <a:ext cx="5120640" cy="320040"/>
          </a:xfrm>
          <a:prstGeom prst="rect">
            <a:avLst/>
          </a:prstGeom>
          <a:noFill/>
          <a:ln/>
        </p:spPr>
        <p:txBody>
          <a:bodyPr wrap="square" lIns="0" tIns="0" rIns="0" bIns="0" rtlCol="0" anchor="ctr"/>
          <a:lstStyle/>
          <a:p>
            <a:pPr indent="0" marL="0">
              <a:buNone/>
            </a:pPr>
            <a:r>
              <a:rPr lang="en-US" sz="1250" b="1" spc="100" kern="0" dirty="0">
                <a:solidFill>
                  <a:srgbClr val="C8102E"/>
                </a:solidFill>
                <a:latin typeface="Calibri" pitchFamily="34" charset="0"/>
                <a:ea typeface="Calibri" pitchFamily="34" charset="-122"/>
                <a:cs typeface="Calibri" pitchFamily="34" charset="-120"/>
              </a:rPr>
              <a:t>GRID vs. FINISH POSITION</a:t>
            </a:r>
            <a:endParaRPr lang="en-US" sz="1250" dirty="0"/>
          </a:p>
        </p:txBody>
      </p:sp>
      <p:sp>
        <p:nvSpPr>
          <p:cNvPr id="14" name="Text 11"/>
          <p:cNvSpPr/>
          <p:nvPr/>
        </p:nvSpPr>
        <p:spPr>
          <a:xfrm>
            <a:off x="6309360" y="4937760"/>
            <a:ext cx="5120640" cy="1005840"/>
          </a:xfrm>
          <a:prstGeom prst="rect">
            <a:avLst/>
          </a:prstGeom>
          <a:noFill/>
          <a:ln/>
        </p:spPr>
        <p:txBody>
          <a:bodyPr wrap="square" lIns="0" tIns="0" rIns="0" bIns="0" rtlCol="0" anchor="ctr"/>
          <a:lstStyle/>
          <a:p>
            <a:pPr indent="0" marL="0">
              <a:lnSpc>
                <a:spcPct val="115000"/>
              </a:lnSpc>
              <a:buNone/>
            </a:pPr>
            <a:r>
              <a:rPr lang="en-US" sz="1250" dirty="0">
                <a:solidFill>
                  <a:srgbClr val="111111"/>
                </a:solidFill>
                <a:latin typeface="Calibri" pitchFamily="34" charset="0"/>
                <a:ea typeface="Calibri" pitchFamily="34" charset="-122"/>
                <a:cs typeface="Calibri" pitchFamily="34" charset="-120"/>
              </a:rPr>
              <a:t>Average finishing position rises steadily as starting grid position worsens — qualifying performance still strongly shapes the final result, though overtakes and reliability add variance.</a:t>
            </a:r>
            <a:endParaRPr lang="en-US" sz="1250" dirty="0"/>
          </a:p>
        </p:txBody>
      </p:sp>
      <p:sp>
        <p:nvSpPr>
          <p:cNvPr id="15" name="Text 12"/>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6B70"/>
                </a:solidFill>
                <a:latin typeface="Calibri" pitchFamily="34" charset="0"/>
                <a:ea typeface="Calibri" pitchFamily="34" charset="-122"/>
                <a:cs typeface="Calibri" pitchFamily="34" charset="-120"/>
              </a:rPr>
              <a:t>F1 Race Performance Analytics  •  Power BI Project</a:t>
            </a:r>
            <a:endParaRPr lang="en-US" sz="900" dirty="0"/>
          </a:p>
        </p:txBody>
      </p:sp>
      <p:sp>
        <p:nvSpPr>
          <p:cNvPr id="16" name="Text 13"/>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C8102E"/>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06</a:t>
            </a:r>
            <a:endParaRPr lang="en-US" sz="2000" dirty="0"/>
          </a:p>
        </p:txBody>
      </p:sp>
      <p:sp>
        <p:nvSpPr>
          <p:cNvPr id="4" name="Text 2"/>
          <p:cNvSpPr/>
          <p:nvPr/>
        </p:nvSpPr>
        <p:spPr>
          <a:xfrm>
            <a:off x="1097280" y="457200"/>
            <a:ext cx="7315200" cy="457200"/>
          </a:xfrm>
          <a:prstGeom prst="rect">
            <a:avLst/>
          </a:prstGeom>
          <a:noFill/>
          <a:ln/>
        </p:spPr>
        <p:txBody>
          <a:bodyPr wrap="square" lIns="0" tIns="0" rIns="0" bIns="0" rtlCol="0" anchor="ctr"/>
          <a:lstStyle/>
          <a:p>
            <a:pPr indent="0" marL="0">
              <a:buNone/>
            </a:pPr>
            <a:r>
              <a:rPr lang="en-US" sz="1300" b="1" spc="200" kern="0" dirty="0">
                <a:solidFill>
                  <a:srgbClr val="6B6B70"/>
                </a:solidFill>
                <a:latin typeface="Calibri" pitchFamily="34" charset="0"/>
                <a:ea typeface="Calibri" pitchFamily="34" charset="-122"/>
                <a:cs typeface="Calibri" pitchFamily="34" charset="-120"/>
              </a:rPr>
              <a:t>KEY VISUALS</a:t>
            </a:r>
            <a:endParaRPr lang="en-US" sz="1300" dirty="0"/>
          </a:p>
        </p:txBody>
      </p:sp>
      <p:sp>
        <p:nvSpPr>
          <p:cNvPr id="5" name="Text 3"/>
          <p:cNvSpPr/>
          <p:nvPr/>
        </p:nvSpPr>
        <p:spPr>
          <a:xfrm>
            <a:off x="457200" y="960120"/>
            <a:ext cx="10789920" cy="731520"/>
          </a:xfrm>
          <a:prstGeom prst="rect">
            <a:avLst/>
          </a:prstGeom>
          <a:noFill/>
          <a:ln/>
        </p:spPr>
        <p:txBody>
          <a:bodyPr wrap="square" lIns="0" tIns="0" rIns="0" bIns="0" rtlCol="0" anchor="ctr"/>
          <a:lstStyle/>
          <a:p>
            <a:pPr indent="0" marL="0">
              <a:buNone/>
            </a:pPr>
            <a:r>
              <a:rPr lang="en-US" sz="3000" b="1" dirty="0">
                <a:solidFill>
                  <a:srgbClr val="111111"/>
                </a:solidFill>
                <a:latin typeface="Cambria" pitchFamily="34" charset="0"/>
                <a:ea typeface="Cambria" pitchFamily="34" charset="-122"/>
                <a:cs typeface="Cambria" pitchFamily="34" charset="-120"/>
              </a:rPr>
              <a:t>Races Across History — Circuits &amp; Seasons</a:t>
            </a:r>
            <a:endParaRPr lang="en-US" sz="3000" dirty="0"/>
          </a:p>
        </p:txBody>
      </p:sp>
      <p:sp>
        <p:nvSpPr>
          <p:cNvPr id="6" name="Text 4"/>
          <p:cNvSpPr/>
          <p:nvPr/>
        </p:nvSpPr>
        <p:spPr>
          <a:xfrm>
            <a:off x="457200" y="1828800"/>
            <a:ext cx="5486400" cy="320040"/>
          </a:xfrm>
          <a:prstGeom prst="rect">
            <a:avLst/>
          </a:prstGeom>
          <a:noFill/>
          <a:ln/>
        </p:spPr>
        <p:txBody>
          <a:bodyPr wrap="square" lIns="0" tIns="0" rIns="0" bIns="0" rtlCol="0" anchor="ctr"/>
          <a:lstStyle/>
          <a:p>
            <a:pPr indent="0" marL="0">
              <a:buNone/>
            </a:pPr>
            <a:r>
              <a:rPr lang="en-US" sz="1250" b="1" spc="100" kern="0" dirty="0">
                <a:solidFill>
                  <a:srgbClr val="C8102E"/>
                </a:solidFill>
                <a:latin typeface="Calibri" pitchFamily="34" charset="0"/>
                <a:ea typeface="Calibri" pitchFamily="34" charset="-122"/>
                <a:cs typeface="Calibri" pitchFamily="34" charset="-120"/>
              </a:rPr>
              <a:t>TOP CIRCUITS BY NUMBER OF RACES</a:t>
            </a:r>
            <a:endParaRPr lang="en-US" sz="1250" dirty="0"/>
          </a:p>
        </p:txBody>
      </p:sp>
      <p:graphicFrame>
        <p:nvGraphicFramePr>
          <p:cNvPr id="7" name="Chart 0" descr=""/>
          <p:cNvGraphicFramePr/>
          <p:nvPr/>
        </p:nvGraphicFramePr>
        <p:xfrm>
          <a:off x="457200" y="2148840"/>
          <a:ext cx="5486400" cy="38862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263640" y="1828800"/>
            <a:ext cx="5486400" cy="4206240"/>
          </a:xfrm>
          <a:prstGeom prst="roundRect">
            <a:avLst>
              <a:gd name="adj" fmla="val 1739"/>
            </a:avLst>
          </a:prstGeom>
          <a:solidFill>
            <a:srgbClr val="111111"/>
          </a:solidFill>
          <a:ln/>
          <a:effectLst>
            <a:outerShdw sx="100000" sy="100000" kx="0" ky="0" algn="bl" rotWithShape="0" blurRad="101600" dist="38100" dir="5400000">
              <a:srgbClr val="000000">
                <a:alpha val="18000"/>
              </a:srgbClr>
            </a:outerShdw>
          </a:effectLst>
        </p:spPr>
      </p:sp>
      <p:sp>
        <p:nvSpPr>
          <p:cNvPr id="9" name="Text 6"/>
          <p:cNvSpPr/>
          <p:nvPr/>
        </p:nvSpPr>
        <p:spPr>
          <a:xfrm>
            <a:off x="6537960" y="2057400"/>
            <a:ext cx="4937760" cy="365760"/>
          </a:xfrm>
          <a:prstGeom prst="rect">
            <a:avLst/>
          </a:prstGeom>
          <a:noFill/>
          <a:ln/>
        </p:spPr>
        <p:txBody>
          <a:bodyPr wrap="square" lIns="0" tIns="0" rIns="0" bIns="0" rtlCol="0" anchor="ctr"/>
          <a:lstStyle/>
          <a:p>
            <a:pPr indent="0" marL="0">
              <a:buNone/>
            </a:pPr>
            <a:r>
              <a:rPr lang="en-US" sz="1200" b="1" spc="100" kern="0" dirty="0">
                <a:solidFill>
                  <a:srgbClr val="D4AF37"/>
                </a:solidFill>
                <a:latin typeface="Calibri" pitchFamily="34" charset="0"/>
                <a:ea typeface="Calibri" pitchFamily="34" charset="-122"/>
                <a:cs typeface="Calibri" pitchFamily="34" charset="-120"/>
              </a:rPr>
              <a:t>WINS BY SEASON  •  1950 – 2025</a:t>
            </a:r>
            <a:endParaRPr lang="en-US" sz="1200" dirty="0"/>
          </a:p>
        </p:txBody>
      </p:sp>
      <p:sp>
        <p:nvSpPr>
          <p:cNvPr id="10" name="Text 7"/>
          <p:cNvSpPr/>
          <p:nvPr/>
        </p:nvSpPr>
        <p:spPr>
          <a:xfrm>
            <a:off x="6537960" y="2423160"/>
            <a:ext cx="256032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75</a:t>
            </a:r>
            <a:endParaRPr lang="en-US" sz="4600" dirty="0"/>
          </a:p>
        </p:txBody>
      </p:sp>
      <p:sp>
        <p:nvSpPr>
          <p:cNvPr id="11" name="Text 8"/>
          <p:cNvSpPr/>
          <p:nvPr/>
        </p:nvSpPr>
        <p:spPr>
          <a:xfrm>
            <a:off x="6537960" y="3154680"/>
            <a:ext cx="2560320" cy="320040"/>
          </a:xfrm>
          <a:prstGeom prst="rect">
            <a:avLst/>
          </a:prstGeom>
          <a:noFill/>
          <a:ln/>
        </p:spPr>
        <p:txBody>
          <a:bodyPr wrap="square" lIns="0" tIns="0" rIns="0" bIns="0" rtlCol="0" anchor="ctr"/>
          <a:lstStyle/>
          <a:p>
            <a:pPr indent="0" marL="0">
              <a:buNone/>
            </a:pPr>
            <a:r>
              <a:rPr lang="en-US" sz="1000" spc="100" kern="0" dirty="0">
                <a:solidFill>
                  <a:srgbClr val="E4E4E7"/>
                </a:solidFill>
                <a:latin typeface="Calibri" pitchFamily="34" charset="0"/>
                <a:ea typeface="Calibri" pitchFamily="34" charset="-122"/>
                <a:cs typeface="Calibri" pitchFamily="34" charset="-120"/>
              </a:rPr>
              <a:t>SEASONS OF RACING</a:t>
            </a:r>
            <a:endParaRPr lang="en-US" sz="1000" dirty="0"/>
          </a:p>
        </p:txBody>
      </p:sp>
      <p:sp>
        <p:nvSpPr>
          <p:cNvPr id="12" name="Text 9"/>
          <p:cNvSpPr/>
          <p:nvPr/>
        </p:nvSpPr>
        <p:spPr>
          <a:xfrm>
            <a:off x="9144000" y="2423160"/>
            <a:ext cx="2606040" cy="914400"/>
          </a:xfrm>
          <a:prstGeom prst="rect">
            <a:avLst/>
          </a:prstGeom>
          <a:noFill/>
          <a:ln/>
        </p:spPr>
        <p:txBody>
          <a:bodyPr wrap="square" lIns="0" tIns="0" rIns="0" bIns="0" rtlCol="0" anchor="ctr"/>
          <a:lstStyle/>
          <a:p>
            <a:pPr indent="0" marL="0">
              <a:buNone/>
            </a:pPr>
            <a:r>
              <a:rPr lang="en-US" sz="4000" b="1" dirty="0">
                <a:solidFill>
                  <a:srgbClr val="C8102E"/>
                </a:solidFill>
                <a:latin typeface="Cambria" pitchFamily="34" charset="0"/>
                <a:ea typeface="Cambria" pitchFamily="34" charset="-122"/>
                <a:cs typeface="Cambria" pitchFamily="34" charset="-120"/>
              </a:rPr>
              <a:t>1.125K</a:t>
            </a:r>
            <a:endParaRPr lang="en-US" sz="4000" dirty="0"/>
          </a:p>
        </p:txBody>
      </p:sp>
      <p:sp>
        <p:nvSpPr>
          <p:cNvPr id="13" name="Text 10"/>
          <p:cNvSpPr/>
          <p:nvPr/>
        </p:nvSpPr>
        <p:spPr>
          <a:xfrm>
            <a:off x="9144000" y="3154680"/>
            <a:ext cx="2606040" cy="320040"/>
          </a:xfrm>
          <a:prstGeom prst="rect">
            <a:avLst/>
          </a:prstGeom>
          <a:noFill/>
          <a:ln/>
        </p:spPr>
        <p:txBody>
          <a:bodyPr wrap="square" lIns="0" tIns="0" rIns="0" bIns="0" rtlCol="0" anchor="ctr"/>
          <a:lstStyle/>
          <a:p>
            <a:pPr indent="0" marL="0">
              <a:buNone/>
            </a:pPr>
            <a:r>
              <a:rPr lang="en-US" sz="1000" spc="100" kern="0" dirty="0">
                <a:solidFill>
                  <a:srgbClr val="E4E4E7"/>
                </a:solidFill>
                <a:latin typeface="Calibri" pitchFamily="34" charset="0"/>
                <a:ea typeface="Calibri" pitchFamily="34" charset="-122"/>
                <a:cs typeface="Calibri" pitchFamily="34" charset="-120"/>
              </a:rPr>
              <a:t>TOTAL RACES</a:t>
            </a:r>
            <a:endParaRPr lang="en-US" sz="1000" dirty="0"/>
          </a:p>
        </p:txBody>
      </p:sp>
      <p:sp>
        <p:nvSpPr>
          <p:cNvPr id="14" name="Shape 11"/>
          <p:cNvSpPr/>
          <p:nvPr/>
        </p:nvSpPr>
        <p:spPr>
          <a:xfrm>
            <a:off x="6537960" y="3657600"/>
            <a:ext cx="4937760" cy="0"/>
          </a:xfrm>
          <a:prstGeom prst="line">
            <a:avLst/>
          </a:prstGeom>
          <a:noFill/>
          <a:ln w="9525">
            <a:solidFill>
              <a:srgbClr val="6B6B70"/>
            </a:solidFill>
            <a:prstDash val="solid"/>
          </a:ln>
        </p:spPr>
      </p:sp>
      <p:sp>
        <p:nvSpPr>
          <p:cNvPr id="15" name="Text 12"/>
          <p:cNvSpPr/>
          <p:nvPr/>
        </p:nvSpPr>
        <p:spPr>
          <a:xfrm>
            <a:off x="6537960" y="3840480"/>
            <a:ext cx="4937760" cy="91440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Wins per season climbed sharply through the 1980s–2000s as the calendar expanded, then plateaued at a high, steady rate in the modern era.</a:t>
            </a:r>
            <a:endParaRPr lang="en-US" sz="1250" dirty="0"/>
          </a:p>
        </p:txBody>
      </p:sp>
      <p:sp>
        <p:nvSpPr>
          <p:cNvPr id="16" name="Text 13"/>
          <p:cNvSpPr/>
          <p:nvPr/>
        </p:nvSpPr>
        <p:spPr>
          <a:xfrm>
            <a:off x="6537960" y="4846320"/>
            <a:ext cx="4937760" cy="1005840"/>
          </a:xfrm>
          <a:prstGeom prst="rect">
            <a:avLst/>
          </a:prstGeom>
          <a:noFill/>
          <a:ln/>
        </p:spPr>
        <p:txBody>
          <a:bodyPr wrap="square" lIns="0" tIns="0" rIns="0" bIns="0" rtlCol="0" anchor="ctr"/>
          <a:lstStyle/>
          <a:p>
            <a:pPr indent="0" marL="0">
              <a:lnSpc>
                <a:spcPct val="120000"/>
              </a:lnSpc>
              <a:buNone/>
            </a:pPr>
            <a:r>
              <a:rPr lang="en-US" sz="1250" dirty="0">
                <a:solidFill>
                  <a:srgbClr val="E4E4E7"/>
                </a:solidFill>
                <a:latin typeface="Calibri" pitchFamily="34" charset="0"/>
                <a:ea typeface="Calibri" pitchFamily="34" charset="-122"/>
                <a:cs typeface="Calibri" pitchFamily="34" charset="-120"/>
              </a:rPr>
              <a:t>Monza, Monaco, and Silverstone — three of F1's oldest venues — host the most Grands Prix of all 77 circuits, anchoring the calendar across 75 seasons.</a:t>
            </a:r>
            <a:endParaRPr lang="en-US" sz="1250" dirty="0"/>
          </a:p>
        </p:txBody>
      </p:sp>
      <p:sp>
        <p:nvSpPr>
          <p:cNvPr id="17" name="Text 14"/>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6B70"/>
                </a:solidFill>
                <a:latin typeface="Calibri" pitchFamily="34" charset="0"/>
                <a:ea typeface="Calibri" pitchFamily="34" charset="-122"/>
                <a:cs typeface="Calibri" pitchFamily="34" charset="-120"/>
              </a:rPr>
              <a:t>F1 Race Performance Analytics  •  Power BI Project</a:t>
            </a:r>
            <a:endParaRPr lang="en-US" sz="900" dirty="0"/>
          </a:p>
        </p:txBody>
      </p:sp>
      <p:sp>
        <p:nvSpPr>
          <p:cNvPr id="18" name="Text 15"/>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02920" cy="502920"/>
          </a:xfrm>
          <a:prstGeom prst="ellipse">
            <a:avLst/>
          </a:prstGeom>
          <a:solidFill>
            <a:srgbClr val="C8102E"/>
          </a:solidFill>
          <a:ln/>
        </p:spPr>
      </p:sp>
      <p:sp>
        <p:nvSpPr>
          <p:cNvPr id="3" name="Text 1"/>
          <p:cNvSpPr/>
          <p:nvPr/>
        </p:nvSpPr>
        <p:spPr>
          <a:xfrm>
            <a:off x="457200" y="411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07</a:t>
            </a:r>
            <a:endParaRPr lang="en-US" sz="2000" dirty="0"/>
          </a:p>
        </p:txBody>
      </p:sp>
      <p:sp>
        <p:nvSpPr>
          <p:cNvPr id="4" name="Text 2"/>
          <p:cNvSpPr/>
          <p:nvPr/>
        </p:nvSpPr>
        <p:spPr>
          <a:xfrm>
            <a:off x="1097280" y="457200"/>
            <a:ext cx="7315200" cy="457200"/>
          </a:xfrm>
          <a:prstGeom prst="rect">
            <a:avLst/>
          </a:prstGeom>
          <a:noFill/>
          <a:ln/>
        </p:spPr>
        <p:txBody>
          <a:bodyPr wrap="square" lIns="0" tIns="0" rIns="0" bIns="0" rtlCol="0" anchor="ctr"/>
          <a:lstStyle/>
          <a:p>
            <a:pPr indent="0" marL="0">
              <a:buNone/>
            </a:pPr>
            <a:r>
              <a:rPr lang="en-US" sz="1300" b="1" spc="200" kern="0" dirty="0">
                <a:solidFill>
                  <a:srgbClr val="6B6B70"/>
                </a:solidFill>
                <a:latin typeface="Calibri" pitchFamily="34" charset="0"/>
                <a:ea typeface="Calibri" pitchFamily="34" charset="-122"/>
                <a:cs typeface="Calibri" pitchFamily="34" charset="-120"/>
              </a:rPr>
              <a:t>KEY FINDINGS</a:t>
            </a:r>
            <a:endParaRPr lang="en-US" sz="1300" dirty="0"/>
          </a:p>
        </p:txBody>
      </p:sp>
      <p:sp>
        <p:nvSpPr>
          <p:cNvPr id="5" name="Text 3"/>
          <p:cNvSpPr/>
          <p:nvPr/>
        </p:nvSpPr>
        <p:spPr>
          <a:xfrm>
            <a:off x="457200" y="960120"/>
            <a:ext cx="10789920" cy="731520"/>
          </a:xfrm>
          <a:prstGeom prst="rect">
            <a:avLst/>
          </a:prstGeom>
          <a:noFill/>
          <a:ln/>
        </p:spPr>
        <p:txBody>
          <a:bodyPr wrap="square" lIns="0" tIns="0" rIns="0" bIns="0" rtlCol="0" anchor="ctr"/>
          <a:lstStyle/>
          <a:p>
            <a:pPr indent="0" marL="0">
              <a:buNone/>
            </a:pPr>
            <a:r>
              <a:rPr lang="en-US" sz="3000" b="1" dirty="0">
                <a:solidFill>
                  <a:srgbClr val="111111"/>
                </a:solidFill>
                <a:latin typeface="Cambria" pitchFamily="34" charset="0"/>
                <a:ea typeface="Cambria" pitchFamily="34" charset="-122"/>
                <a:cs typeface="Cambria" pitchFamily="34" charset="-120"/>
              </a:rPr>
              <a:t>Key Findings &amp; Insights</a:t>
            </a:r>
            <a:endParaRPr lang="en-US" sz="3000" dirty="0"/>
          </a:p>
        </p:txBody>
      </p:sp>
      <p:sp>
        <p:nvSpPr>
          <p:cNvPr id="6" name="Shape 4"/>
          <p:cNvSpPr/>
          <p:nvPr/>
        </p:nvSpPr>
        <p:spPr>
          <a:xfrm>
            <a:off x="457200" y="1865376"/>
            <a:ext cx="502920" cy="502920"/>
          </a:xfrm>
          <a:prstGeom prst="ellipse">
            <a:avLst/>
          </a:prstGeom>
          <a:solidFill>
            <a:srgbClr val="C8102E"/>
          </a:solidFill>
          <a:ln/>
        </p:spPr>
      </p:sp>
      <p:sp>
        <p:nvSpPr>
          <p:cNvPr id="7" name="Text 5"/>
          <p:cNvSpPr/>
          <p:nvPr/>
        </p:nvSpPr>
        <p:spPr>
          <a:xfrm>
            <a:off x="457200" y="186537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143000" y="1828800"/>
            <a:ext cx="10515600" cy="731520"/>
          </a:xfrm>
          <a:prstGeom prst="rect">
            <a:avLst/>
          </a:prstGeom>
          <a:noFill/>
          <a:ln/>
        </p:spPr>
        <p:txBody>
          <a:bodyPr wrap="square" lIns="0" tIns="0" rIns="0" bIns="0" rtlCol="0" anchor="ctr"/>
          <a:lstStyle/>
          <a:p>
            <a:pPr indent="0" marL="0">
              <a:lnSpc>
                <a:spcPct val="110000"/>
              </a:lnSpc>
              <a:buNone/>
            </a:pPr>
            <a:r>
              <a:rPr lang="en-US" sz="1350" dirty="0">
                <a:solidFill>
                  <a:srgbClr val="111111"/>
                </a:solidFill>
                <a:latin typeface="Calibri" pitchFamily="34" charset="0"/>
                <a:ea typeface="Calibri" pitchFamily="34" charset="-122"/>
                <a:cs typeface="Calibri" pitchFamily="34" charset="-120"/>
              </a:rPr>
              <a:t>Lewis Hamilton leads all-time wins with 105, ahead of Michael Schumacher (91) and Max Verstappen (63) — sustained dominance across eras.</a:t>
            </a:r>
            <a:endParaRPr lang="en-US" sz="1350" dirty="0"/>
          </a:p>
        </p:txBody>
      </p:sp>
      <p:sp>
        <p:nvSpPr>
          <p:cNvPr id="9" name="Shape 7"/>
          <p:cNvSpPr/>
          <p:nvPr/>
        </p:nvSpPr>
        <p:spPr>
          <a:xfrm>
            <a:off x="457200" y="2706624"/>
            <a:ext cx="502920" cy="502920"/>
          </a:xfrm>
          <a:prstGeom prst="ellipse">
            <a:avLst/>
          </a:prstGeom>
          <a:solidFill>
            <a:srgbClr val="111111"/>
          </a:solidFill>
          <a:ln/>
        </p:spPr>
      </p:sp>
      <p:sp>
        <p:nvSpPr>
          <p:cNvPr id="10" name="Text 8"/>
          <p:cNvSpPr/>
          <p:nvPr/>
        </p:nvSpPr>
        <p:spPr>
          <a:xfrm>
            <a:off x="457200" y="27066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143000" y="2670048"/>
            <a:ext cx="10515600" cy="731520"/>
          </a:xfrm>
          <a:prstGeom prst="rect">
            <a:avLst/>
          </a:prstGeom>
          <a:noFill/>
          <a:ln/>
        </p:spPr>
        <p:txBody>
          <a:bodyPr wrap="square" lIns="0" tIns="0" rIns="0" bIns="0" rtlCol="0" anchor="ctr"/>
          <a:lstStyle/>
          <a:p>
            <a:pPr indent="0" marL="0">
              <a:lnSpc>
                <a:spcPct val="110000"/>
              </a:lnSpc>
              <a:buNone/>
            </a:pPr>
            <a:r>
              <a:rPr lang="en-US" sz="1350" dirty="0">
                <a:solidFill>
                  <a:srgbClr val="111111"/>
                </a:solidFill>
                <a:latin typeface="Calibri" pitchFamily="34" charset="0"/>
                <a:ea typeface="Calibri" pitchFamily="34" charset="-122"/>
                <a:cs typeface="Calibri" pitchFamily="34" charset="-120"/>
              </a:rPr>
              <a:t>Ferrari, Mercedes, and McLaren top constructor points, but win-percentage analysis shows efficiency favors different teams than raw win counts.</a:t>
            </a:r>
            <a:endParaRPr lang="en-US" sz="1350" dirty="0"/>
          </a:p>
        </p:txBody>
      </p:sp>
      <p:sp>
        <p:nvSpPr>
          <p:cNvPr id="12" name="Shape 10"/>
          <p:cNvSpPr/>
          <p:nvPr/>
        </p:nvSpPr>
        <p:spPr>
          <a:xfrm>
            <a:off x="457200" y="3547872"/>
            <a:ext cx="502920" cy="502920"/>
          </a:xfrm>
          <a:prstGeom prst="ellipse">
            <a:avLst/>
          </a:prstGeom>
          <a:solidFill>
            <a:srgbClr val="C8102E"/>
          </a:solidFill>
          <a:ln/>
        </p:spPr>
      </p:sp>
      <p:sp>
        <p:nvSpPr>
          <p:cNvPr id="13" name="Text 11"/>
          <p:cNvSpPr/>
          <p:nvPr/>
        </p:nvSpPr>
        <p:spPr>
          <a:xfrm>
            <a:off x="457200" y="354787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143000" y="3511296"/>
            <a:ext cx="10515600" cy="731520"/>
          </a:xfrm>
          <a:prstGeom prst="rect">
            <a:avLst/>
          </a:prstGeom>
          <a:noFill/>
          <a:ln/>
        </p:spPr>
        <p:txBody>
          <a:bodyPr wrap="square" lIns="0" tIns="0" rIns="0" bIns="0" rtlCol="0" anchor="ctr"/>
          <a:lstStyle/>
          <a:p>
            <a:pPr indent="0" marL="0">
              <a:lnSpc>
                <a:spcPct val="110000"/>
              </a:lnSpc>
              <a:buNone/>
            </a:pPr>
            <a:r>
              <a:rPr lang="en-US" sz="1350" dirty="0">
                <a:solidFill>
                  <a:srgbClr val="111111"/>
                </a:solidFill>
                <a:latin typeface="Calibri" pitchFamily="34" charset="0"/>
                <a:ea typeface="Calibri" pitchFamily="34" charset="-122"/>
                <a:cs typeface="Calibri" pitchFamily="34" charset="-120"/>
              </a:rPr>
              <a:t>Pole position converts to a win only 42.3% of the time — strategy, tyres, and reliability matter as much as raw qualifying pace.</a:t>
            </a:r>
            <a:endParaRPr lang="en-US" sz="1350" dirty="0"/>
          </a:p>
        </p:txBody>
      </p:sp>
      <p:sp>
        <p:nvSpPr>
          <p:cNvPr id="15" name="Shape 13"/>
          <p:cNvSpPr/>
          <p:nvPr/>
        </p:nvSpPr>
        <p:spPr>
          <a:xfrm>
            <a:off x="457200" y="4389120"/>
            <a:ext cx="502920" cy="502920"/>
          </a:xfrm>
          <a:prstGeom prst="ellipse">
            <a:avLst/>
          </a:prstGeom>
          <a:solidFill>
            <a:srgbClr val="111111"/>
          </a:solidFill>
          <a:ln/>
        </p:spPr>
      </p:sp>
      <p:sp>
        <p:nvSpPr>
          <p:cNvPr id="16" name="Text 14"/>
          <p:cNvSpPr/>
          <p:nvPr/>
        </p:nvSpPr>
        <p:spPr>
          <a:xfrm>
            <a:off x="457200" y="4389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p:nvPr/>
        </p:nvSpPr>
        <p:spPr>
          <a:xfrm>
            <a:off x="1143000" y="4352544"/>
            <a:ext cx="10515600" cy="731520"/>
          </a:xfrm>
          <a:prstGeom prst="rect">
            <a:avLst/>
          </a:prstGeom>
          <a:noFill/>
          <a:ln/>
        </p:spPr>
        <p:txBody>
          <a:bodyPr wrap="square" lIns="0" tIns="0" rIns="0" bIns="0" rtlCol="0" anchor="ctr"/>
          <a:lstStyle/>
          <a:p>
            <a:pPr indent="0" marL="0">
              <a:lnSpc>
                <a:spcPct val="110000"/>
              </a:lnSpc>
              <a:buNone/>
            </a:pPr>
            <a:r>
              <a:rPr lang="en-US" sz="1350" dirty="0">
                <a:solidFill>
                  <a:srgbClr val="111111"/>
                </a:solidFill>
                <a:latin typeface="Calibri" pitchFamily="34" charset="0"/>
                <a:ea typeface="Calibri" pitchFamily="34" charset="-122"/>
                <a:cs typeface="Calibri" pitchFamily="34" charset="-120"/>
              </a:rPr>
              <a:t>Average finishing position rises steadily with starting grid position, confirming qualifying performance still strongly shapes race outcomes.</a:t>
            </a:r>
            <a:endParaRPr lang="en-US" sz="1350" dirty="0"/>
          </a:p>
        </p:txBody>
      </p:sp>
      <p:sp>
        <p:nvSpPr>
          <p:cNvPr id="18" name="Shape 16"/>
          <p:cNvSpPr/>
          <p:nvPr/>
        </p:nvSpPr>
        <p:spPr>
          <a:xfrm>
            <a:off x="457200" y="5230368"/>
            <a:ext cx="502920" cy="502920"/>
          </a:xfrm>
          <a:prstGeom prst="ellipse">
            <a:avLst/>
          </a:prstGeom>
          <a:solidFill>
            <a:srgbClr val="C8102E"/>
          </a:solidFill>
          <a:ln/>
        </p:spPr>
      </p:sp>
      <p:sp>
        <p:nvSpPr>
          <p:cNvPr id="19" name="Text 17"/>
          <p:cNvSpPr/>
          <p:nvPr/>
        </p:nvSpPr>
        <p:spPr>
          <a:xfrm>
            <a:off x="457200" y="5230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0" name="Text 18"/>
          <p:cNvSpPr/>
          <p:nvPr/>
        </p:nvSpPr>
        <p:spPr>
          <a:xfrm>
            <a:off x="1143000" y="5193792"/>
            <a:ext cx="10515600" cy="731520"/>
          </a:xfrm>
          <a:prstGeom prst="rect">
            <a:avLst/>
          </a:prstGeom>
          <a:noFill/>
          <a:ln/>
        </p:spPr>
        <p:txBody>
          <a:bodyPr wrap="square" lIns="0" tIns="0" rIns="0" bIns="0" rtlCol="0" anchor="ctr"/>
          <a:lstStyle/>
          <a:p>
            <a:pPr indent="0" marL="0">
              <a:lnSpc>
                <a:spcPct val="110000"/>
              </a:lnSpc>
              <a:buNone/>
            </a:pPr>
            <a:r>
              <a:rPr lang="en-US" sz="1350" dirty="0">
                <a:solidFill>
                  <a:srgbClr val="111111"/>
                </a:solidFill>
                <a:latin typeface="Calibri" pitchFamily="34" charset="0"/>
                <a:ea typeface="Calibri" pitchFamily="34" charset="-122"/>
                <a:cs typeface="Calibri" pitchFamily="34" charset="-120"/>
              </a:rPr>
              <a:t>Monza, Monaco, and Silverstone host the most Grands Prix of all 77 circuits — historic venues anchor the F1 calendar across 75 seasons.</a:t>
            </a:r>
            <a:endParaRPr lang="en-US" sz="1350" dirty="0"/>
          </a:p>
        </p:txBody>
      </p:sp>
      <p:sp>
        <p:nvSpPr>
          <p:cNvPr id="21" name="Text 19"/>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6B70"/>
                </a:solidFill>
                <a:latin typeface="Calibri" pitchFamily="34" charset="0"/>
                <a:ea typeface="Calibri" pitchFamily="34" charset="-122"/>
                <a:cs typeface="Calibri" pitchFamily="34" charset="-120"/>
              </a:rPr>
              <a:t>F1 Race Performance Analytics  •  Power BI Project</a:t>
            </a:r>
            <a:endParaRPr lang="en-US" sz="900" dirty="0"/>
          </a:p>
        </p:txBody>
      </p:sp>
      <p:sp>
        <p:nvSpPr>
          <p:cNvPr id="22" name="Text 20"/>
          <p:cNvSpPr/>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6B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457200" y="457200"/>
            <a:ext cx="256032" cy="256032"/>
          </a:xfrm>
          <a:prstGeom prst="rect">
            <a:avLst/>
          </a:prstGeom>
          <a:solidFill>
            <a:srgbClr val="FFFFFF"/>
          </a:solidFill>
          <a:ln/>
        </p:spPr>
      </p:sp>
      <p:sp>
        <p:nvSpPr>
          <p:cNvPr id="3" name="Shape 1"/>
          <p:cNvSpPr/>
          <p:nvPr/>
        </p:nvSpPr>
        <p:spPr>
          <a:xfrm>
            <a:off x="969264" y="457200"/>
            <a:ext cx="256032" cy="256032"/>
          </a:xfrm>
          <a:prstGeom prst="rect">
            <a:avLst/>
          </a:prstGeom>
          <a:solidFill>
            <a:srgbClr val="FFFFFF"/>
          </a:solidFill>
          <a:ln/>
        </p:spPr>
      </p:sp>
      <p:sp>
        <p:nvSpPr>
          <p:cNvPr id="4" name="Shape 2"/>
          <p:cNvSpPr/>
          <p:nvPr/>
        </p:nvSpPr>
        <p:spPr>
          <a:xfrm>
            <a:off x="713232" y="713232"/>
            <a:ext cx="256032" cy="256032"/>
          </a:xfrm>
          <a:prstGeom prst="rect">
            <a:avLst/>
          </a:prstGeom>
          <a:solidFill>
            <a:srgbClr val="FFFFFF"/>
          </a:solidFill>
          <a:ln/>
        </p:spPr>
      </p:sp>
      <p:sp>
        <p:nvSpPr>
          <p:cNvPr id="5" name="Shape 3"/>
          <p:cNvSpPr/>
          <p:nvPr/>
        </p:nvSpPr>
        <p:spPr>
          <a:xfrm>
            <a:off x="1225296" y="713232"/>
            <a:ext cx="256032" cy="256032"/>
          </a:xfrm>
          <a:prstGeom prst="rect">
            <a:avLst/>
          </a:prstGeom>
          <a:solidFill>
            <a:srgbClr val="FFFFFF"/>
          </a:solidFill>
          <a:ln/>
        </p:spPr>
      </p:sp>
      <p:sp>
        <p:nvSpPr>
          <p:cNvPr id="6" name="Shape 4"/>
          <p:cNvSpPr/>
          <p:nvPr/>
        </p:nvSpPr>
        <p:spPr>
          <a:xfrm>
            <a:off x="457200" y="969264"/>
            <a:ext cx="256032" cy="256032"/>
          </a:xfrm>
          <a:prstGeom prst="rect">
            <a:avLst/>
          </a:prstGeom>
          <a:solidFill>
            <a:srgbClr val="FFFFFF"/>
          </a:solidFill>
          <a:ln/>
        </p:spPr>
      </p:sp>
      <p:sp>
        <p:nvSpPr>
          <p:cNvPr id="7" name="Shape 5"/>
          <p:cNvSpPr/>
          <p:nvPr/>
        </p:nvSpPr>
        <p:spPr>
          <a:xfrm>
            <a:off x="969264" y="969264"/>
            <a:ext cx="256032" cy="256032"/>
          </a:xfrm>
          <a:prstGeom prst="rect">
            <a:avLst/>
          </a:prstGeom>
          <a:solidFill>
            <a:srgbClr val="FFFFFF"/>
          </a:solidFill>
          <a:ln/>
        </p:spPr>
      </p:sp>
      <p:sp>
        <p:nvSpPr>
          <p:cNvPr id="8" name="Shape 6"/>
          <p:cNvSpPr/>
          <p:nvPr/>
        </p:nvSpPr>
        <p:spPr>
          <a:xfrm>
            <a:off x="713232" y="1225296"/>
            <a:ext cx="256032" cy="256032"/>
          </a:xfrm>
          <a:prstGeom prst="rect">
            <a:avLst/>
          </a:prstGeom>
          <a:solidFill>
            <a:srgbClr val="FFFFFF"/>
          </a:solidFill>
          <a:ln/>
        </p:spPr>
      </p:sp>
      <p:sp>
        <p:nvSpPr>
          <p:cNvPr id="9" name="Shape 7"/>
          <p:cNvSpPr/>
          <p:nvPr/>
        </p:nvSpPr>
        <p:spPr>
          <a:xfrm>
            <a:off x="1225296" y="1225296"/>
            <a:ext cx="256032" cy="256032"/>
          </a:xfrm>
          <a:prstGeom prst="rect">
            <a:avLst/>
          </a:prstGeom>
          <a:solidFill>
            <a:srgbClr val="FFFFFF"/>
          </a:solidFill>
          <a:ln/>
        </p:spPr>
      </p:sp>
      <p:sp>
        <p:nvSpPr>
          <p:cNvPr id="10" name="Text 8"/>
          <p:cNvSpPr/>
          <p:nvPr/>
        </p:nvSpPr>
        <p:spPr>
          <a:xfrm>
            <a:off x="8778240" y="457200"/>
            <a:ext cx="548640" cy="457200"/>
          </a:xfrm>
          <a:prstGeom prst="rect">
            <a:avLst/>
          </a:prstGeom>
          <a:noFill/>
          <a:ln/>
        </p:spPr>
        <p:txBody>
          <a:bodyPr wrap="square" lIns="0" tIns="0" rIns="0" bIns="0" rtlCol="0" anchor="ctr"/>
          <a:lstStyle/>
          <a:p>
            <a:pPr indent="0" marL="0">
              <a:buNone/>
            </a:pPr>
            <a:r>
              <a:rPr lang="en-US" sz="1600" b="1" dirty="0">
                <a:solidFill>
                  <a:srgbClr val="C8102E"/>
                </a:solidFill>
                <a:latin typeface="Cambria" pitchFamily="34" charset="0"/>
                <a:ea typeface="Cambria" pitchFamily="34" charset="-122"/>
                <a:cs typeface="Cambria" pitchFamily="34" charset="-120"/>
              </a:rPr>
              <a:t>08</a:t>
            </a:r>
            <a:endParaRPr lang="en-US" sz="1600" dirty="0"/>
          </a:p>
        </p:txBody>
      </p:sp>
      <p:sp>
        <p:nvSpPr>
          <p:cNvPr id="11" name="Text 9"/>
          <p:cNvSpPr/>
          <p:nvPr/>
        </p:nvSpPr>
        <p:spPr>
          <a:xfrm>
            <a:off x="9326880" y="475488"/>
            <a:ext cx="2377440" cy="411480"/>
          </a:xfrm>
          <a:prstGeom prst="rect">
            <a:avLst/>
          </a:prstGeom>
          <a:noFill/>
          <a:ln/>
        </p:spPr>
        <p:txBody>
          <a:bodyPr wrap="square" lIns="0" tIns="0" rIns="0" bIns="0" rtlCol="0" anchor="ctr"/>
          <a:lstStyle/>
          <a:p>
            <a:pPr indent="0" marL="0">
              <a:buNone/>
            </a:pPr>
            <a:r>
              <a:rPr lang="en-US" sz="1200" b="1" spc="200" kern="0" dirty="0">
                <a:solidFill>
                  <a:srgbClr val="E4E4E7"/>
                </a:solidFill>
                <a:latin typeface="Calibri" pitchFamily="34" charset="0"/>
                <a:ea typeface="Calibri" pitchFamily="34" charset="-122"/>
                <a:cs typeface="Calibri" pitchFamily="34" charset="-120"/>
              </a:rPr>
              <a:t>CONCLUSION</a:t>
            </a:r>
            <a:endParaRPr lang="en-US" sz="1200" dirty="0"/>
          </a:p>
        </p:txBody>
      </p:sp>
      <p:sp>
        <p:nvSpPr>
          <p:cNvPr id="12" name="Text 10"/>
          <p:cNvSpPr/>
          <p:nvPr/>
        </p:nvSpPr>
        <p:spPr>
          <a:xfrm>
            <a:off x="1463040" y="1371600"/>
            <a:ext cx="91440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 &amp; Thank You</a:t>
            </a:r>
            <a:endParaRPr lang="en-US" sz="3400" dirty="0"/>
          </a:p>
        </p:txBody>
      </p:sp>
      <p:sp>
        <p:nvSpPr>
          <p:cNvPr id="13" name="Text 11"/>
          <p:cNvSpPr/>
          <p:nvPr/>
        </p:nvSpPr>
        <p:spPr>
          <a:xfrm>
            <a:off x="1463040" y="2377440"/>
            <a:ext cx="9326880" cy="2926080"/>
          </a:xfrm>
          <a:prstGeom prst="rect">
            <a:avLst/>
          </a:prstGeom>
          <a:noFill/>
          <a:ln/>
        </p:spPr>
        <p:txBody>
          <a:bodyPr wrap="square" lIns="0" tIns="0" rIns="0" bIns="0" rtlCol="0" anchor="t"/>
          <a:lstStyle/>
          <a:p>
            <a:pPr marL="342900" indent="-342900">
              <a:spcAft>
                <a:spcPts val="1800"/>
              </a:spcAft>
              <a:buSzPct val="100000"/>
              <a:buChar char="▸"/>
            </a:pPr>
            <a:r>
              <a:rPr lang="en-US" sz="1500" dirty="0">
                <a:solidFill>
                  <a:srgbClr val="FFFFFF"/>
                </a:solidFill>
                <a:latin typeface="Calibri" pitchFamily="34" charset="0"/>
                <a:ea typeface="Calibri" pitchFamily="34" charset="-122"/>
                <a:cs typeface="Calibri" pitchFamily="34" charset="-120"/>
              </a:rPr>
              <a:t>Built an end-to-end pipeline — six raw F1 CSVs to a cleaned master dataset, Python EDA, and a published Power BI dashboard</a:t>
            </a:r>
            <a:endParaRPr lang="en-US" sz="1500" dirty="0"/>
          </a:p>
          <a:p>
            <a:pPr marL="342900" indent="-342900">
              <a:spcAft>
                <a:spcPts val="1800"/>
              </a:spcAft>
              <a:buSzPct val="100000"/>
              <a:buChar char="▸"/>
            </a:pPr>
            <a:r>
              <a:rPr lang="en-US" sz="1500" dirty="0">
                <a:solidFill>
                  <a:srgbClr val="FFFFFF"/>
                </a:solidFill>
                <a:latin typeface="Calibri" pitchFamily="34" charset="0"/>
                <a:ea typeface="Calibri" pitchFamily="34" charset="-122"/>
                <a:cs typeface="Calibri" pitchFamily="34" charset="-120"/>
              </a:rPr>
              <a:t>Most important finding: pole position wins only 42% of the time, proving race strategy and reliability outweigh raw qualifying pace</a:t>
            </a:r>
            <a:endParaRPr lang="en-US" sz="1500" dirty="0"/>
          </a:p>
          <a:p>
            <a:pPr marL="342900" indent="-342900">
              <a:spcAft>
                <a:spcPts val="1800"/>
              </a:spcAft>
              <a:buSzPct val="100000"/>
              <a:buChar char="▸"/>
            </a:pPr>
            <a:r>
              <a:rPr lang="en-US" sz="1500" dirty="0">
                <a:solidFill>
                  <a:srgbClr val="FFFFFF"/>
                </a:solidFill>
                <a:latin typeface="Calibri" pitchFamily="34" charset="0"/>
                <a:ea typeface="Calibri" pitchFamily="34" charset="-122"/>
                <a:cs typeface="Calibri" pitchFamily="34" charset="-120"/>
              </a:rPr>
              <a:t>Technique: engineering winner, podium, and positions-gained flags directly from raw grid &amp; finishing data with Pandas</a:t>
            </a:r>
            <a:endParaRPr lang="en-US" sz="1500" dirty="0"/>
          </a:p>
          <a:p>
            <a:pPr marL="342900" indent="-342900">
              <a:spcAft>
                <a:spcPts val="1800"/>
              </a:spcAft>
              <a:buSzPct val="100000"/>
              <a:buChar char="▸"/>
            </a:pPr>
            <a:r>
              <a:rPr lang="en-US" sz="1500" dirty="0">
                <a:solidFill>
                  <a:srgbClr val="FFFFFF"/>
                </a:solidFill>
                <a:latin typeface="Calibri" pitchFamily="34" charset="0"/>
                <a:ea typeface="Calibri" pitchFamily="34" charset="-122"/>
                <a:cs typeface="Calibri" pitchFamily="34" charset="-120"/>
              </a:rPr>
              <a:t>Future scope: add lap-by-lap telemetry, weather data, and predictive models for race outcomes</a:t>
            </a:r>
            <a:endParaRPr lang="en-US" sz="1500" dirty="0"/>
          </a:p>
        </p:txBody>
      </p:sp>
      <p:sp>
        <p:nvSpPr>
          <p:cNvPr id="14" name="Shape 12"/>
          <p:cNvSpPr/>
          <p:nvPr/>
        </p:nvSpPr>
        <p:spPr>
          <a:xfrm>
            <a:off x="1463040" y="5577840"/>
            <a:ext cx="9326880" cy="0"/>
          </a:xfrm>
          <a:prstGeom prst="line">
            <a:avLst/>
          </a:prstGeom>
          <a:noFill/>
          <a:ln w="9525">
            <a:solidFill>
              <a:srgbClr val="6B6B70"/>
            </a:solidFill>
            <a:prstDash val="solid"/>
          </a:ln>
        </p:spPr>
      </p:sp>
      <p:sp>
        <p:nvSpPr>
          <p:cNvPr id="15" name="Text 13"/>
          <p:cNvSpPr/>
          <p:nvPr/>
        </p:nvSpPr>
        <p:spPr>
          <a:xfrm>
            <a:off x="1463040" y="5760720"/>
            <a:ext cx="5486400" cy="457200"/>
          </a:xfrm>
          <a:prstGeom prst="rect">
            <a:avLst/>
          </a:prstGeom>
          <a:noFill/>
          <a:ln/>
        </p:spPr>
        <p:txBody>
          <a:bodyPr wrap="square" lIns="0" tIns="0" rIns="0" bIns="0" rtlCol="0" anchor="ctr"/>
          <a:lstStyle/>
          <a:p>
            <a:pPr indent="0" marL="0">
              <a:buNone/>
            </a:pPr>
            <a:r>
              <a:rPr lang="en-US" sz="1400" i="1" dirty="0">
                <a:solidFill>
                  <a:srgbClr val="D4AF37"/>
                </a:solidFill>
                <a:latin typeface="Calibri" pitchFamily="34" charset="0"/>
                <a:ea typeface="Calibri" pitchFamily="34" charset="-122"/>
                <a:cs typeface="Calibri" pitchFamily="34" charset="-120"/>
              </a:rPr>
              <a:t>Questions &amp; Feedback Welcome</a:t>
            </a:r>
            <a:endParaRPr lang="en-US" sz="1400" dirty="0"/>
          </a:p>
        </p:txBody>
      </p:sp>
      <p:sp>
        <p:nvSpPr>
          <p:cNvPr id="16" name="Text 14"/>
          <p:cNvSpPr/>
          <p:nvPr/>
        </p:nvSpPr>
        <p:spPr>
          <a:xfrm>
            <a:off x="7132320" y="5760720"/>
            <a:ext cx="3657600" cy="457200"/>
          </a:xfrm>
          <a:prstGeom prst="rect">
            <a:avLst/>
          </a:prstGeom>
          <a:noFill/>
          <a:ln/>
        </p:spPr>
        <p:txBody>
          <a:bodyPr wrap="square" lIns="0" tIns="0" rIns="0" bIns="0" rtlCol="0" anchor="ctr"/>
          <a:lstStyle/>
          <a:p>
            <a:pPr algn="r" indent="0" marL="0">
              <a:buNone/>
            </a:pPr>
            <a:r>
              <a:rPr lang="en-US" sz="1200" dirty="0">
                <a:solidFill>
                  <a:srgbClr val="6B6B70"/>
                </a:solidFill>
                <a:latin typeface="Calibri" pitchFamily="34" charset="0"/>
                <a:ea typeface="Calibri" pitchFamily="34" charset="-122"/>
                <a:cs typeface="Calibri" pitchFamily="34" charset="-120"/>
              </a:rPr>
              <a:t>Krish Sharma  |  2405039377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Formula 1 Race Performance Analytics — Power BI Project</dc:title>
  <dc:subject>PptxGenJS Presentation</dc:subject>
  <dc:creator>Krish Sharma</dc:creator>
  <cp:lastModifiedBy>Krish Sharma</cp:lastModifiedBy>
  <cp:revision>1</cp:revision>
  <dcterms:created xsi:type="dcterms:W3CDTF">2026-06-30T08:39:50Z</dcterms:created>
  <dcterms:modified xsi:type="dcterms:W3CDTF">2026-06-30T08:39:50Z</dcterms:modified>
</cp:coreProperties>
</file>